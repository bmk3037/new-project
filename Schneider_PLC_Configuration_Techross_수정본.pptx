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430" r:id="rId25"/>
    <p:sldId id="431" r:id="rId26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2" name="表 3">
            <a:extLst>
              <a:ext uri="{FF2B5EF4-FFF2-40B4-BE49-F238E27FC236}">
                <a16:creationId xmlns:a16="http://schemas.microsoft.com/office/drawing/2014/main" id="{7ABB4ED5-D9F4-BAC1-1F60-03C0618AF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114025"/>
              </p:ext>
            </p:extLst>
          </p:nvPr>
        </p:nvGraphicFramePr>
        <p:xfrm>
          <a:off x="1407550" y="2855812"/>
          <a:ext cx="6815022" cy="170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50295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2524214027"/>
                    </a:ext>
                  </a:extLst>
                </a:gridCol>
                <a:gridCol w="82126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831928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Q’ty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TM241CE40T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1ch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TM3DI16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32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1690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 b="1">
                          <a:solidFill>
                            <a:srgbClr val="C00000"/>
                          </a:solidFill>
                        </a:rPr>
                        <a:t>TM3DI8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6285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TM3DQ16T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0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TM3DQ8T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00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61E97BF5-C21B-85C4-C442-0132875C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960" y="1027746"/>
            <a:ext cx="5746704" cy="1487687"/>
          </a:xfrm>
          <a:prstGeom prst="rect">
            <a:avLst/>
          </a:prstGeom>
        </p:spPr>
      </p:pic>
      <p:sp>
        <p:nvSpPr>
          <p:cNvPr id="6" name="タイトル 8">
            <a:extLst>
              <a:ext uri="{FF2B5EF4-FFF2-40B4-BE49-F238E27FC236}">
                <a16:creationId xmlns:a16="http://schemas.microsoft.com/office/drawing/2014/main" id="{3ACA4C00-F5D9-9995-879B-CDB957B13052}"/>
              </a:ext>
            </a:extLst>
          </p:cNvPr>
          <p:cNvSpPr txBox="1">
            <a:spLocks/>
          </p:cNvSpPr>
          <p:nvPr/>
        </p:nvSpPr>
        <p:spPr>
          <a:xfrm>
            <a:off x="280848" y="36792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TM3DI16 × 2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TM3DI8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TM3DQ16T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27.4 × 84.6 × 90 (×4)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[모듈 1개 치수 누락 → 확인]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1.185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64/40/0/2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Marine Energy Saving System, Marine Crane, Marine Scrubber   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[적용 고객사·선박 등 구체 실적 추가]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제안 가격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TSU, ANU, ANU-S, MCC</a:t>
                      </a:r>
                      <a:r>
                        <a:rPr sz="7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00000" y="4430000"/>
            <a:ext cx="85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수정한 내용 / [ ] = Schneider 확인 후 기입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CPU 사양 (TM241 공통)</a:t>
            </a:r>
            <a:endParaRPr lang="ja-JP" altLang="en-US" dirty="0"/>
          </a:p>
        </p:txBody>
      </p:sp>
      <p:graphicFrame>
        <p:nvGraphicFramePr>
          <p:cNvPr id="14" name="CPU 사양 표"/>
          <p:cNvGraphicFramePr>
            <a:graphicFrameLocks noGrp="1"/>
          </p:cNvGraphicFramePr>
          <p:nvPr/>
        </p:nvGraphicFramePr>
        <p:xfrm>
          <a:off x="1100000" y="900000"/>
          <a:ext cx="6900000" cy="312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00000"/>
                <a:gridCol w="5200000"/>
              </a:tblGrid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사양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CPU 시리즈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Modicon M241 (TM241C24R / C24T / C40R / C40T / CE40T)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툴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EcoStruxure Machine Expert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언어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</a:rPr>
                        <a:t>IEC 61131-3 : ST (Structured Text) 지원 · LD · FBD · SFC · IL · CFC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64 MB RAM / 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CPU 처리 속도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</a:rPr>
                        <a:t>[Schneider 기입 — 명령 처리 시간 등]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시리얼 통신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2CH (SL1: RS232/RS485, SL2: RS485)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Ethernet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TM241CE40T 내장 1CH (MCC)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포트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USB mini-B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SD 카드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지원 — 소스코드 · 펌웨어 업/다운로드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I/O 확장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TM3 모듈 최대 7개 (TM3XTRA1 / TM3XREC1 버스 확장 시 최대 14개)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선급 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PU 범례"/>
          <p:cNvSpPr txBox="1"/>
          <p:nvPr/>
        </p:nvSpPr>
        <p:spPr>
          <a:xfrm>
            <a:off x="1100000" y="4060000"/>
            <a:ext cx="69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RFQ 요청 항목 (ST 언어 지원 명시, CPU 처리 속도는 Schneider 확인 후 기입)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수정 사항 (R3.1 대비)</a:t>
            </a:r>
            <a:endParaRPr lang="ja-JP" altLang="en-US" dirty="0"/>
          </a:p>
        </p:txBody>
      </p:sp>
      <p:graphicFrame>
        <p:nvGraphicFramePr>
          <p:cNvPr id="14" name="수정 사항 표"/>
          <p:cNvGraphicFramePr>
            <a:graphicFrameLocks noGrp="1"/>
          </p:cNvGraphicFramePr>
          <p:nvPr/>
        </p:nvGraphicFramePr>
        <p:xfrm>
          <a:off x="450000" y="900000"/>
          <a:ext cx="8250000" cy="24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0000"/>
                <a:gridCol w="1050000"/>
                <a:gridCol w="4650000"/>
                <a:gridCol w="2100000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No.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페이지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수정 내용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근거 (RFQ)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MCC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Techross 협의로 원안 구성 유지 — 슬라이드의 'TM3DI18' 오기만 TM3DI8로 수정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2026-10-06 Schneider–Techross 협의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필수사항 DI 6 → 3, DO 12 → 5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기존 사양: ANU-S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3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세부 내용 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이미지 → 편집 가능한 표, ANU-S 치수 수정, Benefit 프로젝트명 수정 (PDE → MCC)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제출서류 2: Table1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4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CPU 사양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신규: ST 언어 지원 명시, CPU 사양 정리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3, 제출서류 4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5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미결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C00000"/>
                          </a:solidFill>
                        </a:rPr>
                        <a:t>제안 가격 (2027년 기준), CPU 처리 속도, MCC 모듈 치수 1개 누락, 외형도 CAD, 구체 Reference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7·8, 제출서류 3·4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
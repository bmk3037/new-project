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  <p:sldMasterId id="2147483715" r:id="rId2"/>
  </p:sldMasterIdLst>
  <p:notesMasterIdLst>
    <p:notesMasterId r:id="rId9"/>
  </p:notesMasterIdLst>
  <p:sldIdLst>
    <p:sldId id="726" r:id="rId3"/>
    <p:sldId id="733" r:id="rId4"/>
    <p:sldId id="731" r:id="rId5"/>
    <p:sldId id="727" r:id="rId6"/>
    <p:sldId id="734" r:id="rId7"/>
    <p:sldId id="732" r:id="rId8"/>
  </p:sldIdLst>
  <p:sldSz cx="9906000" cy="6858000" type="A4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박수정" initials="박" lastIdx="1" clrIdx="0">
    <p:extLst>
      <p:ext uri="{19B8F6BF-5375-455C-9EA6-DF929625EA0E}">
        <p15:presenceInfo xmlns:p15="http://schemas.microsoft.com/office/powerpoint/2012/main" userId="박수정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68B6"/>
    <a:srgbClr val="00FFFF"/>
    <a:srgbClr val="A54762"/>
    <a:srgbClr val="E2EFDA"/>
    <a:srgbClr val="D9E1F2"/>
    <a:srgbClr val="004A85"/>
    <a:srgbClr val="DD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782" autoAdjust="0"/>
  </p:normalViewPr>
  <p:slideViewPr>
    <p:cSldViewPr snapToGrid="0">
      <p:cViewPr varScale="1">
        <p:scale>
          <a:sx n="100" d="100"/>
          <a:sy n="100" d="100"/>
        </p:scale>
        <p:origin x="90" y="180"/>
      </p:cViewPr>
      <p:guideLst>
        <p:guide orient="horz" pos="2183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1" d="100"/>
          <a:sy n="81" d="100"/>
        </p:scale>
        <p:origin x="1958" y="62"/>
      </p:cViewPr>
      <p:guideLst>
        <p:guide orient="horz" pos="2141"/>
        <p:guide pos="312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ECE430-197B-47E1-AF3C-3E5512AE1429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08350" y="850900"/>
            <a:ext cx="3309938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5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9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875B9-DA08-4F64-81B4-D0749FB420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321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테크로스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ED5265A-983A-41BB-93B4-E98957B16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13197"/>
            <a:ext cx="9896980" cy="402571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099D20F-4819-408B-965E-127920942B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50" y="317774"/>
            <a:ext cx="2616924" cy="72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3DED466-5EF1-49AA-A65F-C670E9B10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251" y="2876204"/>
            <a:ext cx="6247880" cy="1387013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DCA4AF-38D3-49C0-842E-2195D3036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251" y="4290206"/>
            <a:ext cx="6247880" cy="365126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597DCBC9-78B5-4299-B73E-6B4D26E950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2251" y="5897982"/>
            <a:ext cx="6247880" cy="31591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764489-DC9D-68A6-E2D3-043070BCDE83}"/>
              </a:ext>
            </a:extLst>
          </p:cNvPr>
          <p:cNvSpPr txBox="1"/>
          <p:nvPr userDrawn="1"/>
        </p:nvSpPr>
        <p:spPr>
          <a:xfrm>
            <a:off x="5029200" y="114537"/>
            <a:ext cx="4761781" cy="9903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/>
              <a:t>본 문서는 </a:t>
            </a:r>
            <a:r>
              <a:rPr lang="en-US" altLang="ko-KR" sz="1000" dirty="0"/>
              <a:t>(</a:t>
            </a:r>
            <a:r>
              <a:rPr lang="ko-KR" altLang="en-US" sz="1000" dirty="0"/>
              <a:t>주</a:t>
            </a:r>
            <a:r>
              <a:rPr lang="en-US" altLang="ko-KR" sz="1000" dirty="0"/>
              <a:t>)</a:t>
            </a:r>
            <a:r>
              <a:rPr lang="ko-KR" altLang="en-US" sz="1000" dirty="0"/>
              <a:t>테크로스의 비밀 정보를 포함하고 있으며</a:t>
            </a:r>
            <a:r>
              <a:rPr lang="en-US" altLang="ko-KR" sz="1000" dirty="0"/>
              <a:t>, </a:t>
            </a:r>
            <a:r>
              <a:rPr lang="ko-KR" altLang="en-US" sz="1000" dirty="0"/>
              <a:t>귀하에게만 한정적으로 제공된 자료이므로</a:t>
            </a:r>
            <a:r>
              <a:rPr lang="en-US" altLang="ko-KR" sz="1000" dirty="0"/>
              <a:t>, </a:t>
            </a:r>
            <a:r>
              <a:rPr lang="ko-KR" altLang="en-US" sz="1000" dirty="0"/>
              <a:t>당사의 서면 동의 없이 제 </a:t>
            </a:r>
            <a:r>
              <a:rPr lang="en-US" altLang="ko-KR" sz="1000" dirty="0"/>
              <a:t>3</a:t>
            </a:r>
            <a:r>
              <a:rPr lang="ko-KR" altLang="en-US" sz="1000" dirty="0"/>
              <a:t>자에게 공개할 수 없습니다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This document contains TECHCROSS Inc. confidential information and is limited to you and cannot be disclosed to others without our written consent.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862985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테크로스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DED466-5EF1-49AA-A65F-C670E9B10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251" y="457199"/>
            <a:ext cx="6247880" cy="773084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목차 </a:t>
            </a:r>
            <a:r>
              <a:rPr lang="ko-KR" altLang="en-US" dirty="0"/>
              <a:t>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DCA4AF-38D3-49C0-842E-2195D303679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52250" y="2045067"/>
            <a:ext cx="6913073" cy="3965035"/>
          </a:xfrm>
        </p:spPr>
        <p:txBody>
          <a:bodyPr anchor="ctr">
            <a:normAutofit/>
          </a:bodyPr>
          <a:lstStyle>
            <a:lvl1pPr marL="342900" indent="-342900">
              <a:buFont typeface="+mj-lt"/>
              <a:buAutoNum type="arabicPeriod"/>
              <a:defRPr sz="1800">
                <a:solidFill>
                  <a:schemeClr val="tx2"/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목차 스타일을 편집하려면 클릭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D012F49-FFCD-4700-AB0F-1ACA081EF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" y="1529678"/>
            <a:ext cx="9904905" cy="21599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85ECB62-CF2D-4461-9855-06723FC895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066" y="6107239"/>
            <a:ext cx="1831848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022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테크로스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A4BF1C9-C16C-4C5B-84FF-673274B347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919" r="-19734"/>
          <a:stretch/>
        </p:blipFill>
        <p:spPr>
          <a:xfrm>
            <a:off x="-4647815" y="6507969"/>
            <a:ext cx="16508632" cy="36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7A7E90D-8FB0-46DA-9811-92258D9AA2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363" y="6579087"/>
            <a:ext cx="785077" cy="216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8C0E0F4-B845-4052-B2C1-781C5B49F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6" y="196553"/>
            <a:ext cx="9504000" cy="36000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79AACE-D5A5-44F6-AF4A-7A8CBFC7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60" y="6589013"/>
            <a:ext cx="601098" cy="216000"/>
          </a:xfrm>
          <a:prstGeom prst="rect">
            <a:avLst/>
          </a:prstGeom>
        </p:spPr>
        <p:txBody>
          <a:bodyPr anchor="b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fld id="{4023EF87-A45C-453B-A701-D92E350860E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928058B-6081-421F-B85F-0577932DD50F}"/>
              </a:ext>
            </a:extLst>
          </p:cNvPr>
          <p:cNvCxnSpPr/>
          <p:nvPr/>
        </p:nvCxnSpPr>
        <p:spPr>
          <a:xfrm>
            <a:off x="202474" y="556552"/>
            <a:ext cx="9504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6948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테크로스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8BC3B77-2ADD-4774-9DAF-9F70BF39A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10" y="2500242"/>
            <a:ext cx="9911617" cy="403167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AEAB5A0-00AB-4DEA-B602-78C8DF32BB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50" y="317774"/>
            <a:ext cx="2616924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92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본문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6163" y="233150"/>
            <a:ext cx="9467506" cy="8037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0" y="6492876"/>
            <a:ext cx="676615" cy="365125"/>
          </a:xfrm>
          <a:prstGeom prst="rect">
            <a:avLst/>
          </a:prstGeom>
        </p:spPr>
        <p:txBody>
          <a:bodyPr/>
          <a:lstStyle>
            <a:lvl1pPr algn="ctr">
              <a:defRPr sz="975"/>
            </a:lvl1pPr>
          </a:lstStyle>
          <a:p>
            <a:fld id="{FC2B4FF2-BF8F-4FAC-BACD-BBA68D57D82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8103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테크로스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ED5265A-983A-41BB-93B4-E98957B16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13197"/>
            <a:ext cx="9896980" cy="402571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099D20F-4819-408B-965E-127920942BD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250" y="317774"/>
            <a:ext cx="2616924" cy="72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3DED466-5EF1-49AA-A65F-C670E9B10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251" y="2876204"/>
            <a:ext cx="6247880" cy="1387013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DCA4AF-38D3-49C0-842E-2195D3036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251" y="4290206"/>
            <a:ext cx="6247880" cy="365126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597DCBC9-78B5-4299-B73E-6B4D26E950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2251" y="5897982"/>
            <a:ext cx="6247880" cy="31591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07647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테크로스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DED466-5EF1-49AA-A65F-C670E9B10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251" y="457199"/>
            <a:ext cx="6247880" cy="773084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목차 </a:t>
            </a:r>
            <a:r>
              <a:rPr lang="ko-KR" altLang="en-US" dirty="0"/>
              <a:t>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DCA4AF-38D3-49C0-842E-2195D303679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52250" y="2045067"/>
            <a:ext cx="6913073" cy="3965035"/>
          </a:xfrm>
        </p:spPr>
        <p:txBody>
          <a:bodyPr anchor="ctr">
            <a:normAutofit/>
          </a:bodyPr>
          <a:lstStyle>
            <a:lvl1pPr marL="342900" indent="-342900">
              <a:buFont typeface="+mj-lt"/>
              <a:buAutoNum type="arabicPeriod"/>
              <a:defRPr sz="1800">
                <a:solidFill>
                  <a:schemeClr val="tx2"/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목차 스타일을 편집하려면 클릭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D012F49-FFCD-4700-AB0F-1ACA081EF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" y="1529678"/>
            <a:ext cx="9904905" cy="21599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85ECB62-CF2D-4461-9855-06723FC895A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0066" y="6107239"/>
            <a:ext cx="1831848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18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테크로스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A4BF1C9-C16C-4C5B-84FF-673274B347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b="2769"/>
          <a:stretch/>
        </p:blipFill>
        <p:spPr>
          <a:xfrm>
            <a:off x="0" y="6507969"/>
            <a:ext cx="9906000" cy="35003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7A7E90D-8FB0-46DA-9811-92258D9AA2E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5363" y="6579087"/>
            <a:ext cx="785077" cy="216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8C0E0F4-B845-4052-B2C1-781C5B49F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6" y="196553"/>
            <a:ext cx="9504000" cy="36000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79AACE-D5A5-44F6-AF4A-7A8CBFC7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60" y="6589013"/>
            <a:ext cx="601098" cy="216000"/>
          </a:xfrm>
          <a:prstGeom prst="rect">
            <a:avLst/>
          </a:prstGeom>
        </p:spPr>
        <p:txBody>
          <a:bodyPr anchor="b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fld id="{4023EF87-A45C-453B-A701-D92E350860E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928058B-6081-421F-B85F-0577932DD50F}"/>
              </a:ext>
            </a:extLst>
          </p:cNvPr>
          <p:cNvCxnSpPr/>
          <p:nvPr/>
        </p:nvCxnSpPr>
        <p:spPr>
          <a:xfrm>
            <a:off x="202474" y="556552"/>
            <a:ext cx="9504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533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테크로스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8BC3B77-2ADD-4774-9DAF-9F70BF39A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810" y="2500242"/>
            <a:ext cx="9911617" cy="403167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AEAB5A0-00AB-4DEA-B602-78C8DF32BB2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250" y="317774"/>
            <a:ext cx="2616924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3267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1127CE7-9BC5-4EED-85A9-5066A11B2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테크로스 마스터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B97849-2B75-4FA3-A7A4-A3C7A5E25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새 슬라이드를 추가하여 내용 작성할 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0FAC82-24AF-805D-E9BC-28096666484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849813" y="6703060"/>
            <a:ext cx="2222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551943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3" r:id="rId2"/>
    <p:sldLayoutId id="2147483711" r:id="rId3"/>
    <p:sldLayoutId id="2147483712" r:id="rId4"/>
    <p:sldLayoutId id="2147483714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1127CE7-9BC5-4EED-85A9-5066A11B2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테크로스 마스터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B97849-2B75-4FA3-A7A4-A3C7A5E25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새 슬라이드를 추가하여 내용 작성할 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9CE768-C21C-4F20-FAB6-0470E7419EA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849813" y="6703060"/>
            <a:ext cx="2222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049405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7502D77-B741-016B-CB9E-C3CF74593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PLC </a:t>
            </a:r>
            <a:r>
              <a:rPr lang="ko-KR" altLang="en-US" dirty="0"/>
              <a:t>사양서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22EF8D-358F-D5CD-AFF8-F29F64259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테크로스 </a:t>
            </a:r>
            <a:r>
              <a:rPr lang="en-US" altLang="ko-KR" dirty="0"/>
              <a:t>/ </a:t>
            </a:r>
            <a:r>
              <a:rPr lang="ko-KR" altLang="en-US" dirty="0"/>
              <a:t>전략구매팀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908377-4658-0084-B605-D59303EEE1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2026-09-16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2232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EEFF4C92-4958-AA8C-710A-04FFB8F6E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개요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1A7AB0-2024-0CAF-A8FB-A3F1C8FF97B6}"/>
              </a:ext>
            </a:extLst>
          </p:cNvPr>
          <p:cNvSpPr txBox="1"/>
          <p:nvPr/>
        </p:nvSpPr>
        <p:spPr>
          <a:xfrm>
            <a:off x="199526" y="2313444"/>
            <a:ext cx="931594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-. </a:t>
            </a:r>
            <a:r>
              <a:rPr lang="ko-KR" altLang="en-US" sz="1400" dirty="0"/>
              <a:t>이번에 자사에서 사용되고 있는 </a:t>
            </a:r>
            <a:r>
              <a:rPr lang="en-US" altLang="ko-KR" sz="1400" dirty="0"/>
              <a:t>PLC </a:t>
            </a:r>
            <a:r>
              <a:rPr lang="ko-KR" altLang="en-US" sz="1400" dirty="0"/>
              <a:t>제품 변경의 건이 발생하여</a:t>
            </a:r>
            <a:r>
              <a:rPr lang="en-US" altLang="ko-KR" sz="1400" dirty="0"/>
              <a:t>,</a:t>
            </a:r>
            <a:r>
              <a:rPr lang="ko-KR" altLang="en-US" sz="1400" dirty="0"/>
              <a:t>각 </a:t>
            </a:r>
            <a:r>
              <a:rPr lang="en-US" altLang="ko-KR" sz="1400" dirty="0"/>
              <a:t>Maker </a:t>
            </a:r>
            <a:r>
              <a:rPr lang="ko-KR" altLang="en-US" sz="1400" dirty="0"/>
              <a:t>별로 비교하여 적용 진행하고자 합니다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-. </a:t>
            </a:r>
            <a:r>
              <a:rPr lang="ko-KR" altLang="en-US" sz="1400" dirty="0"/>
              <a:t>다음 </a:t>
            </a:r>
            <a:r>
              <a:rPr lang="en-US" altLang="ko-KR" sz="1400" dirty="0"/>
              <a:t>Project</a:t>
            </a:r>
            <a:r>
              <a:rPr lang="ko-KR" altLang="en-US" sz="1400" dirty="0"/>
              <a:t>중 </a:t>
            </a:r>
            <a:r>
              <a:rPr lang="en-US" altLang="ko-KR" sz="1400" dirty="0"/>
              <a:t>TSU</a:t>
            </a:r>
            <a:r>
              <a:rPr lang="ko-KR" altLang="en-US" sz="1400" dirty="0"/>
              <a:t>는 연 </a:t>
            </a:r>
            <a:r>
              <a:rPr lang="en-US" altLang="ko-KR" sz="1400" dirty="0"/>
              <a:t>200EA </a:t>
            </a:r>
            <a:r>
              <a:rPr lang="ko-KR" altLang="en-US" sz="1400" dirty="0"/>
              <a:t>정도</a:t>
            </a:r>
            <a:r>
              <a:rPr lang="en-US" altLang="ko-KR" sz="1400" dirty="0"/>
              <a:t>,</a:t>
            </a:r>
          </a:p>
          <a:p>
            <a:r>
              <a:rPr lang="en-US" altLang="ko-KR" sz="1400" dirty="0"/>
              <a:t>                                 ANU</a:t>
            </a:r>
            <a:r>
              <a:rPr lang="ko-KR" altLang="en-US" sz="1400" dirty="0"/>
              <a:t>는 연 </a:t>
            </a:r>
            <a:r>
              <a:rPr lang="en-US" altLang="ko-KR" sz="1400" dirty="0"/>
              <a:t>300EA </a:t>
            </a:r>
            <a:r>
              <a:rPr lang="ko-KR" altLang="en-US" sz="1400" dirty="0"/>
              <a:t>정도</a:t>
            </a:r>
            <a:r>
              <a:rPr lang="en-US" altLang="ko-KR" sz="1400" dirty="0"/>
              <a:t>,</a:t>
            </a:r>
          </a:p>
          <a:p>
            <a:r>
              <a:rPr lang="en-US" altLang="ko-KR" sz="1400" dirty="0"/>
              <a:t>                                 ANU-S</a:t>
            </a:r>
            <a:r>
              <a:rPr lang="ko-KR" altLang="en-US" sz="1400" dirty="0"/>
              <a:t>는 연 </a:t>
            </a:r>
            <a:r>
              <a:rPr lang="en-US" altLang="ko-KR" sz="1400" dirty="0"/>
              <a:t>50EA </a:t>
            </a:r>
            <a:r>
              <a:rPr lang="ko-KR" altLang="en-US" sz="1400" dirty="0"/>
              <a:t>정도</a:t>
            </a:r>
            <a:r>
              <a:rPr lang="en-US" altLang="ko-KR" sz="1400" dirty="0"/>
              <a:t>,</a:t>
            </a:r>
          </a:p>
          <a:p>
            <a:r>
              <a:rPr lang="en-US" altLang="ko-KR" sz="1400" dirty="0"/>
              <a:t>                                 MCC </a:t>
            </a:r>
            <a:r>
              <a:rPr lang="ko-KR" altLang="en-US" sz="1400" dirty="0"/>
              <a:t>는 연 </a:t>
            </a:r>
            <a:r>
              <a:rPr lang="en-US" altLang="ko-KR" sz="1400" dirty="0"/>
              <a:t>100EA </a:t>
            </a:r>
            <a:r>
              <a:rPr lang="ko-KR" altLang="en-US" sz="1400" dirty="0"/>
              <a:t>정도 구매되고 있습니다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-. </a:t>
            </a:r>
            <a:r>
              <a:rPr lang="ko-KR" altLang="en-US" sz="1400" dirty="0"/>
              <a:t>자사에서는 가능한 한 위 </a:t>
            </a:r>
            <a:r>
              <a:rPr lang="en-US" altLang="ko-KR" sz="1400" dirty="0"/>
              <a:t>4</a:t>
            </a:r>
            <a:r>
              <a:rPr lang="ko-KR" altLang="en-US" sz="1400" dirty="0"/>
              <a:t>개 </a:t>
            </a:r>
            <a:r>
              <a:rPr lang="en-US" altLang="ko-KR" sz="1400" dirty="0"/>
              <a:t>Project</a:t>
            </a:r>
            <a:r>
              <a:rPr lang="ko-KR" altLang="en-US" sz="1400" dirty="0"/>
              <a:t>에 동일 </a:t>
            </a:r>
            <a:r>
              <a:rPr lang="en-US" altLang="ko-KR" sz="1400" dirty="0"/>
              <a:t>Maker</a:t>
            </a:r>
            <a:r>
              <a:rPr lang="ko-KR" altLang="en-US" sz="1400" dirty="0"/>
              <a:t>로 진행하고자 합니다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-. </a:t>
            </a:r>
            <a:r>
              <a:rPr lang="ko-KR" altLang="en-US" sz="1400" dirty="0"/>
              <a:t>각 </a:t>
            </a:r>
            <a:r>
              <a:rPr lang="en-US" altLang="ko-KR" sz="1400" dirty="0"/>
              <a:t>Maker </a:t>
            </a:r>
            <a:r>
              <a:rPr lang="ko-KR" altLang="en-US" sz="1400" dirty="0"/>
              <a:t>별로 개별 조사가 어려워</a:t>
            </a:r>
            <a:r>
              <a:rPr lang="en-US" altLang="ko-KR" sz="1400" dirty="0"/>
              <a:t>, </a:t>
            </a:r>
            <a:r>
              <a:rPr lang="ko-KR" altLang="en-US" sz="1400" dirty="0"/>
              <a:t>공통으로 요청 드리는 바 입니다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-. </a:t>
            </a:r>
            <a:r>
              <a:rPr lang="ko-KR" altLang="en-US" sz="1400" dirty="0"/>
              <a:t>회신 기한은 부득이 </a:t>
            </a:r>
            <a:r>
              <a:rPr lang="en-US" altLang="ko-KR" sz="1400" dirty="0"/>
              <a:t>2026</a:t>
            </a:r>
            <a:r>
              <a:rPr lang="ko-KR" altLang="en-US" sz="1400" dirty="0"/>
              <a:t>년 </a:t>
            </a:r>
            <a:r>
              <a:rPr lang="en-US" altLang="ko-KR" sz="1400" dirty="0"/>
              <a:t>09</a:t>
            </a:r>
            <a:r>
              <a:rPr lang="ko-KR" altLang="en-US" sz="1400" dirty="0"/>
              <a:t>월 </a:t>
            </a:r>
            <a:r>
              <a:rPr lang="en-US" altLang="ko-KR" sz="1400" dirty="0"/>
              <a:t>21</a:t>
            </a:r>
            <a:r>
              <a:rPr lang="ko-KR" altLang="en-US" sz="1400" dirty="0"/>
              <a:t>일로 요청 드립니다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3221C1-B679-D684-8FDE-4DBA5731D653}"/>
              </a:ext>
            </a:extLst>
          </p:cNvPr>
          <p:cNvSpPr txBox="1"/>
          <p:nvPr/>
        </p:nvSpPr>
        <p:spPr>
          <a:xfrm>
            <a:off x="199526" y="751344"/>
            <a:ext cx="93159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</a:rPr>
              <a:t>-. </a:t>
            </a:r>
            <a:r>
              <a:rPr lang="ko-KR" altLang="en-US" sz="1400" b="1" dirty="0">
                <a:solidFill>
                  <a:srgbClr val="FF0000"/>
                </a:solidFill>
              </a:rPr>
              <a:t>지난 </a:t>
            </a:r>
            <a:r>
              <a:rPr lang="en-US" altLang="ko-KR" sz="1400" b="1" dirty="0">
                <a:solidFill>
                  <a:srgbClr val="FF0000"/>
                </a:solidFill>
              </a:rPr>
              <a:t>8</a:t>
            </a:r>
            <a:r>
              <a:rPr lang="ko-KR" altLang="en-US" sz="1400" b="1" dirty="0">
                <a:solidFill>
                  <a:srgbClr val="FF0000"/>
                </a:solidFill>
              </a:rPr>
              <a:t>월에 당사 소프트웨어 설계팀 주관으로 진행된 </a:t>
            </a:r>
            <a:r>
              <a:rPr lang="en-US" altLang="ko-KR" sz="1400" b="1" dirty="0">
                <a:solidFill>
                  <a:srgbClr val="FF0000"/>
                </a:solidFill>
              </a:rPr>
              <a:t>PLC</a:t>
            </a:r>
            <a:r>
              <a:rPr lang="ko-KR" altLang="en-US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</a:rPr>
              <a:t>MAKER</a:t>
            </a:r>
            <a:r>
              <a:rPr lang="ko-KR" altLang="en-US" sz="1400" b="1" dirty="0">
                <a:solidFill>
                  <a:srgbClr val="FF0000"/>
                </a:solidFill>
              </a:rPr>
              <a:t>별 견적 접수 건에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en-US" altLang="ko-KR" sz="1400" b="1" dirty="0">
                <a:solidFill>
                  <a:srgbClr val="FF0000"/>
                </a:solidFill>
              </a:rPr>
              <a:t>    </a:t>
            </a:r>
            <a:r>
              <a:rPr lang="ko-KR" altLang="en-US" sz="1400" b="1" dirty="0">
                <a:solidFill>
                  <a:srgbClr val="FF0000"/>
                </a:solidFill>
              </a:rPr>
              <a:t>일부 필요사양 변경이 발생하여 재 견적 진행하고자 하며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금번에는 구매팀 주관으로 진행합니다</a:t>
            </a:r>
            <a:r>
              <a:rPr lang="en-US" altLang="ko-KR" sz="1400" b="1" dirty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sz="1400" b="1" dirty="0">
                <a:solidFill>
                  <a:srgbClr val="FF0000"/>
                </a:solidFill>
              </a:rPr>
              <a:t>    </a:t>
            </a:r>
            <a:r>
              <a:rPr lang="ko-KR" altLang="en-US" sz="1400" b="1" dirty="0">
                <a:solidFill>
                  <a:srgbClr val="FF0000"/>
                </a:solidFill>
              </a:rPr>
              <a:t>다음 </a:t>
            </a:r>
            <a:r>
              <a:rPr lang="en-US" altLang="ko-KR" sz="1400" b="1" dirty="0">
                <a:solidFill>
                  <a:srgbClr val="FF0000"/>
                </a:solidFill>
              </a:rPr>
              <a:t>PAGE</a:t>
            </a:r>
            <a:r>
              <a:rPr lang="ko-KR" altLang="en-US" sz="1400" b="1" dirty="0">
                <a:solidFill>
                  <a:srgbClr val="FF0000"/>
                </a:solidFill>
              </a:rPr>
              <a:t>부터 지난 </a:t>
            </a:r>
            <a:r>
              <a:rPr lang="en-US" altLang="ko-KR" sz="1400" b="1" dirty="0">
                <a:solidFill>
                  <a:srgbClr val="FF0000"/>
                </a:solidFill>
              </a:rPr>
              <a:t>8</a:t>
            </a:r>
            <a:r>
              <a:rPr lang="ko-KR" altLang="en-US" sz="1400" b="1" dirty="0">
                <a:solidFill>
                  <a:srgbClr val="FF0000"/>
                </a:solidFill>
              </a:rPr>
              <a:t>월 대비 변경점은 빨강색 글자로 표현하였으니 견적 업무에 참조하시기 바랍니다</a:t>
            </a:r>
            <a:r>
              <a:rPr lang="en-US" altLang="ko-KR" sz="1400" b="1" dirty="0">
                <a:solidFill>
                  <a:srgbClr val="FF0000"/>
                </a:solidFill>
              </a:rPr>
              <a:t>.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171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EEF783B-FA85-F375-E2F9-C4F091047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공통 사항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11354FB-E988-A6BC-DEA6-0C1CFD843B20}"/>
              </a:ext>
            </a:extLst>
          </p:cNvPr>
          <p:cNvSpPr/>
          <p:nvPr/>
        </p:nvSpPr>
        <p:spPr>
          <a:xfrm>
            <a:off x="285750" y="1009650"/>
            <a:ext cx="9417776" cy="260984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Tx/>
              <a:buAutoNum type="arabicPeriod"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TSU, ANU, ANU-S, MCC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Project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FontTx/>
              <a:buAutoNum type="arabicPeriod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기존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ABB PLC CPU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사양과 동일 또는 비슷해야 한다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>
              <a:buAutoNum type="arabicPeriod"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PLC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언어는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ST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가능해야 한다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>
              <a:buAutoNum type="arabicPeriod"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DI/DO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별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10%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정도의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spare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접점이 있으니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Card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구성에 따라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10%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정도는 차이나도 됨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(* DI / DO 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Point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기재하였으며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+10% 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정도의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Spare Point 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필요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28600" indent="-228600">
              <a:buAutoNum type="arabicPeriod" startAt="5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PLC DI/DO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모델은 </a:t>
            </a:r>
            <a:r>
              <a:rPr lang="en-US" altLang="ko-KR" sz="1200" b="1" i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 PAGE.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i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en-US" altLang="ko-KR" sz="1200" b="1" i="1" dirty="0">
                <a:solidFill>
                  <a:srgbClr val="FF0000"/>
                </a:solidFill>
              </a:rPr>
              <a:t>#1 PLC DI / DO </a:t>
            </a:r>
            <a:r>
              <a:rPr lang="ko-KR" altLang="en-US" sz="1200" b="1" i="1" dirty="0">
                <a:solidFill>
                  <a:srgbClr val="FF0000"/>
                </a:solidFill>
              </a:rPr>
              <a:t>세부 사양</a:t>
            </a:r>
            <a:r>
              <a:rPr lang="en-US" altLang="ko-KR" sz="1200" b="1" i="1" dirty="0">
                <a:solidFill>
                  <a:srgbClr val="FF0000"/>
                </a:solidFill>
              </a:rPr>
              <a:t>”</a:t>
            </a:r>
            <a:r>
              <a:rPr lang="en-US" altLang="ko-KR" sz="1200" dirty="0">
                <a:solidFill>
                  <a:srgbClr val="FF0000"/>
                </a:solidFill>
              </a:rPr>
              <a:t>  </a:t>
            </a:r>
            <a:r>
              <a:rPr lang="ko-KR" altLang="en-US" sz="1200" dirty="0">
                <a:solidFill>
                  <a:srgbClr val="FF0000"/>
                </a:solidFill>
              </a:rPr>
              <a:t>문서를 참고하여 제안 할 것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sz="1200" dirty="0">
                <a:solidFill>
                  <a:srgbClr val="FF0000"/>
                </a:solidFill>
              </a:rPr>
              <a:t>           (* </a:t>
            </a:r>
            <a:r>
              <a:rPr lang="ko-KR" altLang="en-US" sz="1200" dirty="0">
                <a:solidFill>
                  <a:srgbClr val="FF0000"/>
                </a:solidFill>
              </a:rPr>
              <a:t>해당 문서는 당사 연구소 </a:t>
            </a:r>
            <a:r>
              <a:rPr lang="ko-KR" altLang="en-US" sz="1200" dirty="0" err="1">
                <a:solidFill>
                  <a:srgbClr val="FF0000"/>
                </a:solidFill>
              </a:rPr>
              <a:t>담당께서</a:t>
            </a:r>
            <a:r>
              <a:rPr lang="ko-KR" altLang="en-US" sz="1200" dirty="0">
                <a:solidFill>
                  <a:srgbClr val="FF0000"/>
                </a:solidFill>
              </a:rPr>
              <a:t> 각 </a:t>
            </a:r>
            <a:r>
              <a:rPr lang="en-US" altLang="ko-KR" sz="1200" dirty="0">
                <a:solidFill>
                  <a:srgbClr val="FF0000"/>
                </a:solidFill>
              </a:rPr>
              <a:t>MAKER</a:t>
            </a:r>
            <a:r>
              <a:rPr lang="ko-KR" altLang="en-US" sz="1200" dirty="0">
                <a:solidFill>
                  <a:srgbClr val="FF0000"/>
                </a:solidFill>
              </a:rPr>
              <a:t>별 적용 가능한 모델 후보군을 기 지정한 문서 입니다</a:t>
            </a:r>
            <a:r>
              <a:rPr lang="en-US" altLang="ko-KR" sz="1200" dirty="0">
                <a:solidFill>
                  <a:srgbClr val="FF0000"/>
                </a:solidFill>
              </a:rPr>
              <a:t>.)</a:t>
            </a:r>
          </a:p>
          <a:p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TSU, ANU, ANU-S : Relay, TR </a:t>
            </a:r>
            <a:r>
              <a:rPr lang="ko-KR" altLang="en-US" sz="12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둘다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가능</a:t>
            </a:r>
            <a:endParaRPr lang="en-US" altLang="ko-KR" sz="12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MCC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Relay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Type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Only</a:t>
            </a:r>
          </a:p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6. 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정격 전압은 다음과 같다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TSU,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ANU, ANU-S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AC220V,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DC24V(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권장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각각의 견적 요청</a:t>
            </a:r>
            <a:endParaRPr lang="en-US" altLang="ko-KR" sz="12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MCC : DC24V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이어야 한다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   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제시 금액은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2027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가격 기준으로 제안해야 하며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 외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Benefit 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있으면 기재할 것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8.   Reference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제안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CPU 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기준으로 작성할 것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(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조선 관련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Reference 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권장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BE37CA0-B29B-534F-FEB7-58D02C80B15D}"/>
              </a:ext>
            </a:extLst>
          </p:cNvPr>
          <p:cNvSpPr/>
          <p:nvPr/>
        </p:nvSpPr>
        <p:spPr>
          <a:xfrm>
            <a:off x="285750" y="4318518"/>
            <a:ext cx="9417776" cy="1788557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Project PLC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구성도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(Project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별 각각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부씩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–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AutoNum type="arabicPeriod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Project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PLC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세부내용 표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(#Table1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참고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    -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AutoNum type="arabicPeriod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Project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외형도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(cad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형식의 파일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</a:p>
          <a:p>
            <a:pPr marL="342900" indent="-342900">
              <a:buAutoNum type="arabicPeriod"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PLC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CPU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Spec(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메모리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CPU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처리 속도 등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7CAC1C-2F95-61CD-BAFC-900785CDB41D}"/>
              </a:ext>
            </a:extLst>
          </p:cNvPr>
          <p:cNvSpPr txBox="1"/>
          <p:nvPr/>
        </p:nvSpPr>
        <p:spPr>
          <a:xfrm>
            <a:off x="285750" y="3857626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제출 서류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698AF4-EF46-D026-CE11-C9302B277856}"/>
              </a:ext>
            </a:extLst>
          </p:cNvPr>
          <p:cNvSpPr txBox="1"/>
          <p:nvPr/>
        </p:nvSpPr>
        <p:spPr>
          <a:xfrm>
            <a:off x="285750" y="640318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공통 사항</a:t>
            </a:r>
          </a:p>
        </p:txBody>
      </p:sp>
    </p:spTree>
    <p:extLst>
      <p:ext uri="{BB962C8B-B14F-4D97-AF65-F5344CB8AC3E}">
        <p14:creationId xmlns:p14="http://schemas.microsoft.com/office/powerpoint/2010/main" val="33981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58DA816-6CA3-B5C2-ACD6-94922731A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기존 사양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981763A-CAB9-FFEA-1BE3-739AE118ECF0}"/>
              </a:ext>
            </a:extLst>
          </p:cNvPr>
          <p:cNvSpPr txBox="1"/>
          <p:nvPr/>
        </p:nvSpPr>
        <p:spPr>
          <a:xfrm>
            <a:off x="199525" y="659479"/>
            <a:ext cx="8722801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TSU : ABB PM554-RP + DO571</a:t>
            </a:r>
            <a:endParaRPr lang="en-US" altLang="ko-KR" sz="125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1C1DB82-AE04-5F36-FD0B-D0AF50680022}"/>
              </a:ext>
            </a:extLst>
          </p:cNvPr>
          <p:cNvSpPr/>
          <p:nvPr/>
        </p:nvSpPr>
        <p:spPr>
          <a:xfrm>
            <a:off x="609600" y="944172"/>
            <a:ext cx="1948872" cy="64861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PM554-RP</a:t>
            </a:r>
          </a:p>
          <a:p>
            <a:pPr algn="ctr"/>
            <a:r>
              <a:rPr lang="en-US" altLang="ko-KR" sz="1400" dirty="0"/>
              <a:t>(DI8 + DO6)</a:t>
            </a:r>
          </a:p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Serial</a:t>
            </a:r>
            <a:r>
              <a:rPr lang="ko-KR" altLang="en-US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</a:rPr>
              <a:t>2CH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8BB85AB-550B-7812-6BBF-DF6DD65FA6CE}"/>
              </a:ext>
            </a:extLst>
          </p:cNvPr>
          <p:cNvSpPr/>
          <p:nvPr/>
        </p:nvSpPr>
        <p:spPr>
          <a:xfrm>
            <a:off x="2683163" y="944172"/>
            <a:ext cx="1948872" cy="6486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DO571</a:t>
            </a:r>
          </a:p>
          <a:p>
            <a:pPr algn="ctr"/>
            <a:r>
              <a:rPr lang="en-US" altLang="ko-KR" sz="1400" dirty="0"/>
              <a:t>(DO8)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16483D2-995F-30DB-5D90-54E29C1AAFC9}"/>
              </a:ext>
            </a:extLst>
          </p:cNvPr>
          <p:cNvSpPr/>
          <p:nvPr/>
        </p:nvSpPr>
        <p:spPr>
          <a:xfrm>
            <a:off x="609600" y="2078481"/>
            <a:ext cx="1948872" cy="67025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PM554-RP</a:t>
            </a:r>
          </a:p>
          <a:p>
            <a:pPr algn="ctr"/>
            <a:r>
              <a:rPr lang="en-US" altLang="ko-KR" sz="1400" dirty="0"/>
              <a:t>(DI8 + DO6)</a:t>
            </a:r>
          </a:p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Serial</a:t>
            </a:r>
            <a:r>
              <a:rPr lang="ko-KR" altLang="en-US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</a:rPr>
              <a:t>2CH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F0D7849-1359-1DEE-9EBE-A3FD99B01A9D}"/>
              </a:ext>
            </a:extLst>
          </p:cNvPr>
          <p:cNvSpPr/>
          <p:nvPr/>
        </p:nvSpPr>
        <p:spPr>
          <a:xfrm>
            <a:off x="2683163" y="2078481"/>
            <a:ext cx="1948872" cy="67025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DO571</a:t>
            </a:r>
          </a:p>
          <a:p>
            <a:pPr algn="ctr"/>
            <a:r>
              <a:rPr lang="en-US" altLang="ko-KR" sz="1400" dirty="0"/>
              <a:t>(DO8)</a:t>
            </a:r>
            <a:endParaRPr lang="ko-KR" altLang="en-US" sz="14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8C24C4A-43D2-41B4-B9D6-053B5D9B0193}"/>
              </a:ext>
            </a:extLst>
          </p:cNvPr>
          <p:cNvSpPr/>
          <p:nvPr/>
        </p:nvSpPr>
        <p:spPr>
          <a:xfrm>
            <a:off x="4756726" y="2087718"/>
            <a:ext cx="1948872" cy="67025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AO561</a:t>
            </a:r>
          </a:p>
          <a:p>
            <a:pPr algn="ctr"/>
            <a:r>
              <a:rPr lang="en-US" altLang="ko-KR" sz="1400" dirty="0"/>
              <a:t>(AO2)</a:t>
            </a:r>
            <a:endParaRPr lang="ko-KR" alt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6240A4-0B44-3EE7-AD02-22358967C0B6}"/>
              </a:ext>
            </a:extLst>
          </p:cNvPr>
          <p:cNvSpPr txBox="1"/>
          <p:nvPr/>
        </p:nvSpPr>
        <p:spPr>
          <a:xfrm>
            <a:off x="204143" y="1795551"/>
            <a:ext cx="8722801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ANU : ABB PM554-RP + DO571 + AO561</a:t>
            </a:r>
            <a:endParaRPr lang="en-US" altLang="ko-KR" sz="12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C09282-9124-4742-7C1D-55EB696E10C9}"/>
              </a:ext>
            </a:extLst>
          </p:cNvPr>
          <p:cNvSpPr txBox="1"/>
          <p:nvPr/>
        </p:nvSpPr>
        <p:spPr>
          <a:xfrm>
            <a:off x="270634" y="2931623"/>
            <a:ext cx="8722801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ANU-S : ABB PM564-RP</a:t>
            </a:r>
            <a:endParaRPr lang="en-US" altLang="ko-KR" sz="125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0220A6D-8FEC-DB73-5847-2283AD5B6890}"/>
              </a:ext>
            </a:extLst>
          </p:cNvPr>
          <p:cNvSpPr/>
          <p:nvPr/>
        </p:nvSpPr>
        <p:spPr>
          <a:xfrm>
            <a:off x="609600" y="3228949"/>
            <a:ext cx="3509818" cy="71508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PM564-RP</a:t>
            </a:r>
          </a:p>
          <a:p>
            <a:pPr algn="ctr"/>
            <a:r>
              <a:rPr lang="en-US" altLang="ko-KR" sz="1400" dirty="0"/>
              <a:t>(DI6 + DO6 + AI2[Spare]</a:t>
            </a:r>
            <a:r>
              <a:rPr lang="ko-KR" altLang="en-US" sz="1400" dirty="0"/>
              <a:t> </a:t>
            </a:r>
            <a:r>
              <a:rPr lang="en-US" altLang="ko-KR" sz="1400" dirty="0"/>
              <a:t>+</a:t>
            </a:r>
            <a:r>
              <a:rPr lang="ko-KR" altLang="en-US" sz="1400" dirty="0"/>
              <a:t> </a:t>
            </a:r>
            <a:r>
              <a:rPr lang="en-US" altLang="ko-KR" sz="1400" dirty="0"/>
              <a:t>AO1)</a:t>
            </a:r>
          </a:p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Serial</a:t>
            </a:r>
            <a:r>
              <a:rPr lang="ko-KR" altLang="en-US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</a:rPr>
              <a:t>2CH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5B1DD5-EF45-2FD4-4BD5-74E4D22BF22E}"/>
              </a:ext>
            </a:extLst>
          </p:cNvPr>
          <p:cNvSpPr txBox="1"/>
          <p:nvPr/>
        </p:nvSpPr>
        <p:spPr>
          <a:xfrm>
            <a:off x="199525" y="4208003"/>
            <a:ext cx="929545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MCC : ABB PM564-RP-ETH</a:t>
            </a:r>
            <a:r>
              <a:rPr lang="ko-KR" alt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r>
              <a:rPr lang="ko-KR" alt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DI562 +</a:t>
            </a:r>
            <a:r>
              <a:rPr lang="ko-KR" alt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DI562 +</a:t>
            </a:r>
            <a:r>
              <a:rPr lang="ko-KR" alt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DI562 +</a:t>
            </a:r>
            <a:r>
              <a:rPr lang="ko-KR" alt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DI562 +</a:t>
            </a:r>
            <a:r>
              <a:rPr lang="ko-KR" alt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DI562 +</a:t>
            </a:r>
            <a:r>
              <a:rPr lang="ko-KR" alt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DI562 + </a:t>
            </a:r>
          </a:p>
          <a:p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                             DO573 + DO573 + DO573 + AO561 + AO561</a:t>
            </a:r>
            <a:endParaRPr lang="en-US" altLang="ko-KR" sz="125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BD0878-72AB-14D3-B24B-377868427832}"/>
              </a:ext>
            </a:extLst>
          </p:cNvPr>
          <p:cNvSpPr/>
          <p:nvPr/>
        </p:nvSpPr>
        <p:spPr>
          <a:xfrm>
            <a:off x="3098800" y="4659296"/>
            <a:ext cx="983673" cy="5846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DI562</a:t>
            </a:r>
          </a:p>
          <a:p>
            <a:pPr algn="ctr"/>
            <a:r>
              <a:rPr lang="en-US" altLang="ko-KR" sz="1400" dirty="0"/>
              <a:t>(DI16)</a:t>
            </a:r>
            <a:endParaRPr lang="ko-KR" altLang="en-US" sz="14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228D00E-59DF-7007-15C2-6782F507F1D3}"/>
              </a:ext>
            </a:extLst>
          </p:cNvPr>
          <p:cNvSpPr/>
          <p:nvPr/>
        </p:nvSpPr>
        <p:spPr>
          <a:xfrm>
            <a:off x="609600" y="4659296"/>
            <a:ext cx="2410691" cy="12790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PM564-RP-ETH</a:t>
            </a:r>
          </a:p>
          <a:p>
            <a:pPr algn="ctr"/>
            <a:r>
              <a:rPr lang="en-US" altLang="ko-KR" sz="1400" dirty="0"/>
              <a:t>(DI6 + DO6 + </a:t>
            </a:r>
          </a:p>
          <a:p>
            <a:pPr algn="ctr"/>
            <a:r>
              <a:rPr lang="en-US" altLang="ko-KR" sz="1400" dirty="0"/>
              <a:t>AI2[Spare]</a:t>
            </a:r>
            <a:r>
              <a:rPr lang="ko-KR" altLang="en-US" sz="1400" dirty="0"/>
              <a:t> </a:t>
            </a:r>
            <a:r>
              <a:rPr lang="en-US" altLang="ko-KR" sz="1400" dirty="0"/>
              <a:t>+</a:t>
            </a:r>
            <a:r>
              <a:rPr lang="ko-KR" altLang="en-US" sz="1400" dirty="0"/>
              <a:t> </a:t>
            </a:r>
            <a:r>
              <a:rPr lang="en-US" altLang="ko-KR" sz="1400" dirty="0"/>
              <a:t>AO1[Spare] +</a:t>
            </a:r>
          </a:p>
          <a:p>
            <a:pPr algn="ctr"/>
            <a:r>
              <a:rPr lang="en-US" altLang="ko-KR" sz="1400" dirty="0"/>
              <a:t>Ethernet)</a:t>
            </a:r>
          </a:p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Serial</a:t>
            </a:r>
            <a:r>
              <a:rPr lang="ko-KR" altLang="en-US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</a:rPr>
              <a:t>1CH</a:t>
            </a:r>
            <a:endParaRPr lang="ko-KR" altLang="en-US" sz="1400" b="1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72D78AD-2FC7-84CC-C5FF-08953AF0249D}"/>
              </a:ext>
            </a:extLst>
          </p:cNvPr>
          <p:cNvSpPr/>
          <p:nvPr/>
        </p:nvSpPr>
        <p:spPr>
          <a:xfrm>
            <a:off x="4160982" y="4659296"/>
            <a:ext cx="983673" cy="5846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DI562</a:t>
            </a:r>
          </a:p>
          <a:p>
            <a:pPr algn="ctr"/>
            <a:r>
              <a:rPr lang="en-US" altLang="ko-KR" sz="1400" dirty="0"/>
              <a:t>(DI16)</a:t>
            </a:r>
            <a:endParaRPr lang="ko-KR" altLang="en-US" sz="14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FFAE503-C40A-7875-15FC-678E3915A14E}"/>
              </a:ext>
            </a:extLst>
          </p:cNvPr>
          <p:cNvSpPr/>
          <p:nvPr/>
        </p:nvSpPr>
        <p:spPr>
          <a:xfrm>
            <a:off x="5223164" y="4659295"/>
            <a:ext cx="983673" cy="5846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DI562</a:t>
            </a:r>
          </a:p>
          <a:p>
            <a:pPr algn="ctr"/>
            <a:r>
              <a:rPr lang="en-US" altLang="ko-KR" sz="1400" dirty="0"/>
              <a:t>(DI16)</a:t>
            </a:r>
            <a:endParaRPr lang="ko-KR" altLang="en-US" sz="14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8E1EB61-1852-83D2-631B-44940CB9A21F}"/>
              </a:ext>
            </a:extLst>
          </p:cNvPr>
          <p:cNvSpPr/>
          <p:nvPr/>
        </p:nvSpPr>
        <p:spPr>
          <a:xfrm>
            <a:off x="6285346" y="4659295"/>
            <a:ext cx="983673" cy="5846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DI562</a:t>
            </a:r>
          </a:p>
          <a:p>
            <a:pPr algn="ctr"/>
            <a:r>
              <a:rPr lang="en-US" altLang="ko-KR" sz="1400" dirty="0"/>
              <a:t>(DI16)</a:t>
            </a:r>
            <a:endParaRPr lang="ko-KR" altLang="en-US" sz="14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09A5B6B-90F9-A965-AB9F-AE3A27683C8E}"/>
              </a:ext>
            </a:extLst>
          </p:cNvPr>
          <p:cNvSpPr/>
          <p:nvPr/>
        </p:nvSpPr>
        <p:spPr>
          <a:xfrm>
            <a:off x="7347528" y="4659295"/>
            <a:ext cx="983673" cy="5846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DI562</a:t>
            </a:r>
          </a:p>
          <a:p>
            <a:pPr algn="ctr"/>
            <a:r>
              <a:rPr lang="en-US" altLang="ko-KR" sz="1400" dirty="0"/>
              <a:t>(DI16)</a:t>
            </a:r>
            <a:endParaRPr lang="ko-KR" altLang="en-US" sz="14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E737782-4C88-61A3-3F52-3A9FCB9D6B98}"/>
              </a:ext>
            </a:extLst>
          </p:cNvPr>
          <p:cNvSpPr/>
          <p:nvPr/>
        </p:nvSpPr>
        <p:spPr>
          <a:xfrm>
            <a:off x="8409710" y="4659295"/>
            <a:ext cx="983673" cy="5846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DI562</a:t>
            </a:r>
          </a:p>
          <a:p>
            <a:pPr algn="ctr"/>
            <a:r>
              <a:rPr lang="en-US" altLang="ko-KR" sz="1400" dirty="0"/>
              <a:t>(DI16)</a:t>
            </a:r>
            <a:endParaRPr lang="ko-KR" altLang="en-US" sz="14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655D382-8DA1-93C9-F25A-B8FCEB467539}"/>
              </a:ext>
            </a:extLst>
          </p:cNvPr>
          <p:cNvSpPr/>
          <p:nvPr/>
        </p:nvSpPr>
        <p:spPr>
          <a:xfrm>
            <a:off x="3098800" y="5353669"/>
            <a:ext cx="983673" cy="5846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DO573</a:t>
            </a:r>
          </a:p>
          <a:p>
            <a:pPr algn="ctr"/>
            <a:r>
              <a:rPr lang="en-US" altLang="ko-KR" sz="1400" dirty="0"/>
              <a:t>(DO16)</a:t>
            </a:r>
            <a:endParaRPr lang="ko-KR" altLang="en-US" sz="1400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767668A-39CB-BFD2-70AD-98813130893E}"/>
              </a:ext>
            </a:extLst>
          </p:cNvPr>
          <p:cNvSpPr/>
          <p:nvPr/>
        </p:nvSpPr>
        <p:spPr>
          <a:xfrm>
            <a:off x="4160982" y="5353669"/>
            <a:ext cx="983673" cy="5846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DO573</a:t>
            </a:r>
          </a:p>
          <a:p>
            <a:pPr algn="ctr"/>
            <a:r>
              <a:rPr lang="en-US" altLang="ko-KR" sz="1400" dirty="0"/>
              <a:t>(DO16)</a:t>
            </a:r>
            <a:endParaRPr lang="ko-KR" altLang="en-US" sz="1400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9D3BAFC-7C3E-3F37-4F7E-40B4796B87A6}"/>
              </a:ext>
            </a:extLst>
          </p:cNvPr>
          <p:cNvSpPr/>
          <p:nvPr/>
        </p:nvSpPr>
        <p:spPr>
          <a:xfrm>
            <a:off x="5223164" y="5353669"/>
            <a:ext cx="983673" cy="5846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DO573</a:t>
            </a:r>
          </a:p>
          <a:p>
            <a:pPr algn="ctr"/>
            <a:r>
              <a:rPr lang="en-US" altLang="ko-KR" sz="1400" dirty="0"/>
              <a:t>(AO16)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85227C6-0B06-11A5-8D21-0A20A920D985}"/>
              </a:ext>
            </a:extLst>
          </p:cNvPr>
          <p:cNvSpPr/>
          <p:nvPr/>
        </p:nvSpPr>
        <p:spPr>
          <a:xfrm>
            <a:off x="6285346" y="5353669"/>
            <a:ext cx="983673" cy="5846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AO561</a:t>
            </a:r>
          </a:p>
          <a:p>
            <a:pPr algn="ctr"/>
            <a:r>
              <a:rPr lang="en-US" altLang="ko-KR" sz="1400" dirty="0"/>
              <a:t>(AO2)</a:t>
            </a:r>
            <a:endParaRPr lang="ko-KR" altLang="en-US" sz="1400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358F6DA-F503-4B90-1018-1D00E775C17A}"/>
              </a:ext>
            </a:extLst>
          </p:cNvPr>
          <p:cNvSpPr/>
          <p:nvPr/>
        </p:nvSpPr>
        <p:spPr>
          <a:xfrm>
            <a:off x="7347528" y="5353669"/>
            <a:ext cx="983673" cy="5846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AO561</a:t>
            </a:r>
          </a:p>
          <a:p>
            <a:pPr algn="ctr"/>
            <a:r>
              <a:rPr lang="en-US" altLang="ko-KR" sz="1400" dirty="0"/>
              <a:t>(AO2)</a:t>
            </a:r>
            <a:endParaRPr lang="ko-KR" altLang="en-US" sz="14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4199E17-F5CE-B02F-49E3-6AA8AD7BECC9}"/>
              </a:ext>
            </a:extLst>
          </p:cNvPr>
          <p:cNvSpPr/>
          <p:nvPr/>
        </p:nvSpPr>
        <p:spPr>
          <a:xfrm>
            <a:off x="199525" y="659479"/>
            <a:ext cx="9502332" cy="571361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23F6AD0B-D65C-A331-2A42-26575760062D}"/>
              </a:ext>
            </a:extLst>
          </p:cNvPr>
          <p:cNvCxnSpPr/>
          <p:nvPr/>
        </p:nvCxnSpPr>
        <p:spPr>
          <a:xfrm>
            <a:off x="199525" y="1708727"/>
            <a:ext cx="95023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98278FBD-437B-53AE-037D-944E9CC9F3AA}"/>
              </a:ext>
            </a:extLst>
          </p:cNvPr>
          <p:cNvCxnSpPr/>
          <p:nvPr/>
        </p:nvCxnSpPr>
        <p:spPr>
          <a:xfrm>
            <a:off x="199525" y="2817091"/>
            <a:ext cx="95023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62E954AF-2A57-3A20-63E8-8D93BC9415D7}"/>
              </a:ext>
            </a:extLst>
          </p:cNvPr>
          <p:cNvCxnSpPr/>
          <p:nvPr/>
        </p:nvCxnSpPr>
        <p:spPr>
          <a:xfrm>
            <a:off x="199525" y="4119418"/>
            <a:ext cx="95023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ED1D1E6-58B9-F998-E583-187FE473C4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059716"/>
              </p:ext>
            </p:extLst>
          </p:nvPr>
        </p:nvGraphicFramePr>
        <p:xfrm>
          <a:off x="7961745" y="841475"/>
          <a:ext cx="1660238" cy="8229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1465">
                  <a:extLst>
                    <a:ext uri="{9D8B030D-6E8A-4147-A177-3AD203B41FA5}">
                      <a16:colId xmlns:a16="http://schemas.microsoft.com/office/drawing/2014/main" val="3763503284"/>
                    </a:ext>
                  </a:extLst>
                </a:gridCol>
                <a:gridCol w="988773">
                  <a:extLst>
                    <a:ext uri="{9D8B030D-6E8A-4147-A177-3AD203B41FA5}">
                      <a16:colId xmlns:a16="http://schemas.microsoft.com/office/drawing/2014/main" val="2863268610"/>
                    </a:ext>
                  </a:extLst>
                </a:gridCol>
              </a:tblGrid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DI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3 Point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343159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DO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6 Point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003164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Comm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Serial 2CH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546966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3D51475-EEA2-E479-D8E8-B5A71824A2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172075"/>
              </p:ext>
            </p:extLst>
          </p:nvPr>
        </p:nvGraphicFramePr>
        <p:xfrm>
          <a:off x="7961745" y="1936866"/>
          <a:ext cx="1660238" cy="8229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1465">
                  <a:extLst>
                    <a:ext uri="{9D8B030D-6E8A-4147-A177-3AD203B41FA5}">
                      <a16:colId xmlns:a16="http://schemas.microsoft.com/office/drawing/2014/main" val="3763503284"/>
                    </a:ext>
                  </a:extLst>
                </a:gridCol>
                <a:gridCol w="988773">
                  <a:extLst>
                    <a:ext uri="{9D8B030D-6E8A-4147-A177-3AD203B41FA5}">
                      <a16:colId xmlns:a16="http://schemas.microsoft.com/office/drawing/2014/main" val="2863268610"/>
                    </a:ext>
                  </a:extLst>
                </a:gridCol>
              </a:tblGrid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DI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6 Point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343159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DO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12 Point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003164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Comm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Serial 2CH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546966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36CAE69-674E-9DEF-E631-C044B4B23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330091"/>
              </p:ext>
            </p:extLst>
          </p:nvPr>
        </p:nvGraphicFramePr>
        <p:xfrm>
          <a:off x="7975128" y="2948033"/>
          <a:ext cx="1660238" cy="10972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1465">
                  <a:extLst>
                    <a:ext uri="{9D8B030D-6E8A-4147-A177-3AD203B41FA5}">
                      <a16:colId xmlns:a16="http://schemas.microsoft.com/office/drawing/2014/main" val="3763503284"/>
                    </a:ext>
                  </a:extLst>
                </a:gridCol>
                <a:gridCol w="988773">
                  <a:extLst>
                    <a:ext uri="{9D8B030D-6E8A-4147-A177-3AD203B41FA5}">
                      <a16:colId xmlns:a16="http://schemas.microsoft.com/office/drawing/2014/main" val="2863268610"/>
                    </a:ext>
                  </a:extLst>
                </a:gridCol>
              </a:tblGrid>
              <a:tr h="2144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DI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3 Point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343159"/>
                  </a:ext>
                </a:extLst>
              </a:tr>
              <a:tr h="2144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DO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5 Point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003164"/>
                  </a:ext>
                </a:extLst>
              </a:tr>
              <a:tr h="2144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AO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1 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08067"/>
                  </a:ext>
                </a:extLst>
              </a:tr>
              <a:tr h="2144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Comm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Serial 2CH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546966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D9676085-BB93-D761-928C-C7981EC14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58515"/>
              </p:ext>
            </p:extLst>
          </p:nvPr>
        </p:nvGraphicFramePr>
        <p:xfrm>
          <a:off x="7511683" y="5866634"/>
          <a:ext cx="2268683" cy="731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17543">
                  <a:extLst>
                    <a:ext uri="{9D8B030D-6E8A-4147-A177-3AD203B41FA5}">
                      <a16:colId xmlns:a16="http://schemas.microsoft.com/office/drawing/2014/main" val="3763503284"/>
                    </a:ext>
                  </a:extLst>
                </a:gridCol>
                <a:gridCol w="1351140">
                  <a:extLst>
                    <a:ext uri="{9D8B030D-6E8A-4147-A177-3AD203B41FA5}">
                      <a16:colId xmlns:a16="http://schemas.microsoft.com/office/drawing/2014/main" val="2863268610"/>
                    </a:ext>
                  </a:extLst>
                </a:gridCol>
              </a:tblGrid>
              <a:tr h="2144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DI,DO,AO</a:t>
                      </a:r>
                      <a:endParaRPr lang="ko-KR" altLang="en-US" sz="1200" b="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현행 유지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343159"/>
                  </a:ext>
                </a:extLst>
              </a:tr>
              <a:tr h="2144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Comm</a:t>
                      </a:r>
                      <a:endParaRPr lang="ko-KR" altLang="en-US" sz="1200" b="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Serial 1CH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Ethernet 1CH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546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67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76B06-72E4-DCA8-2B62-6BD5BA2FA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#1 PLC DI / DO </a:t>
            </a:r>
            <a:r>
              <a:rPr lang="ko-KR" altLang="en-US" dirty="0"/>
              <a:t>세부 사양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B1126ED-C8AB-95D2-7697-F77D23137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3EF87-A45C-453B-A701-D92E350860E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5D3832-79FD-79BE-2CDA-F8C901CC7E6B}"/>
              </a:ext>
            </a:extLst>
          </p:cNvPr>
          <p:cNvSpPr txBox="1"/>
          <p:nvPr/>
        </p:nvSpPr>
        <p:spPr>
          <a:xfrm>
            <a:off x="199525" y="557883"/>
            <a:ext cx="9504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#1 PLC DI / DO </a:t>
            </a:r>
            <a:r>
              <a:rPr lang="ko-KR" alt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 사양서</a:t>
            </a:r>
            <a:endParaRPr lang="en-US" altLang="ko-KR" sz="125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CFB94D0-F6EA-6B97-210F-509CC2D4C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24" y="951346"/>
            <a:ext cx="9193857" cy="18472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A615A1-FB62-526B-172D-A984211C2341}"/>
              </a:ext>
            </a:extLst>
          </p:cNvPr>
          <p:cNvSpPr txBox="1"/>
          <p:nvPr/>
        </p:nvSpPr>
        <p:spPr>
          <a:xfrm>
            <a:off x="199525" y="3051064"/>
            <a:ext cx="9504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</a:rPr>
              <a:t>* </a:t>
            </a:r>
            <a:r>
              <a:rPr lang="ko-KR" altLang="en-US" sz="12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</a:rPr>
              <a:t>메일에 엑셀파일로 첨부 하였음</a:t>
            </a:r>
            <a:endParaRPr lang="en-US" altLang="ko-KR" sz="1250" b="1" dirty="0"/>
          </a:p>
        </p:txBody>
      </p:sp>
    </p:spTree>
    <p:extLst>
      <p:ext uri="{BB962C8B-B14F-4D97-AF65-F5344CB8AC3E}">
        <p14:creationId xmlns:p14="http://schemas.microsoft.com/office/powerpoint/2010/main" val="4259785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5F6E70-E703-5977-16C5-F2B73B8F5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PLC</a:t>
            </a:r>
            <a:r>
              <a:rPr lang="ko-KR" altLang="en-US" dirty="0"/>
              <a:t> 세부 내용 표 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rgbClr val="FF0000"/>
                </a:solidFill>
              </a:rPr>
              <a:t>작성하여 회신 바랍니다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FCA3393-E778-83A3-7219-BCB3875D7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3EF87-A45C-453B-A701-D92E350860E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2589332-D3F7-7ECE-E110-D138D3668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842952"/>
              </p:ext>
            </p:extLst>
          </p:nvPr>
        </p:nvGraphicFramePr>
        <p:xfrm>
          <a:off x="199524" y="842357"/>
          <a:ext cx="9087351" cy="554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165">
                  <a:extLst>
                    <a:ext uri="{9D8B030D-6E8A-4147-A177-3AD203B41FA5}">
                      <a16:colId xmlns:a16="http://schemas.microsoft.com/office/drawing/2014/main" val="3625215570"/>
                    </a:ext>
                  </a:extLst>
                </a:gridCol>
                <a:gridCol w="1068605">
                  <a:extLst>
                    <a:ext uri="{9D8B030D-6E8A-4147-A177-3AD203B41FA5}">
                      <a16:colId xmlns:a16="http://schemas.microsoft.com/office/drawing/2014/main" val="3106058940"/>
                    </a:ext>
                  </a:extLst>
                </a:gridCol>
                <a:gridCol w="1077438">
                  <a:extLst>
                    <a:ext uri="{9D8B030D-6E8A-4147-A177-3AD203B41FA5}">
                      <a16:colId xmlns:a16="http://schemas.microsoft.com/office/drawing/2014/main" val="2092207602"/>
                    </a:ext>
                  </a:extLst>
                </a:gridCol>
                <a:gridCol w="1059478">
                  <a:extLst>
                    <a:ext uri="{9D8B030D-6E8A-4147-A177-3AD203B41FA5}">
                      <a16:colId xmlns:a16="http://schemas.microsoft.com/office/drawing/2014/main" val="1130279150"/>
                    </a:ext>
                  </a:extLst>
                </a:gridCol>
                <a:gridCol w="1142530">
                  <a:extLst>
                    <a:ext uri="{9D8B030D-6E8A-4147-A177-3AD203B41FA5}">
                      <a16:colId xmlns:a16="http://schemas.microsoft.com/office/drawing/2014/main" val="1749450545"/>
                    </a:ext>
                  </a:extLst>
                </a:gridCol>
                <a:gridCol w="1293045">
                  <a:extLst>
                    <a:ext uri="{9D8B030D-6E8A-4147-A177-3AD203B41FA5}">
                      <a16:colId xmlns:a16="http://schemas.microsoft.com/office/drawing/2014/main" val="2896520216"/>
                    </a:ext>
                  </a:extLst>
                </a:gridCol>
                <a:gridCol w="1326918">
                  <a:extLst>
                    <a:ext uri="{9D8B030D-6E8A-4147-A177-3AD203B41FA5}">
                      <a16:colId xmlns:a16="http://schemas.microsoft.com/office/drawing/2014/main" val="826044456"/>
                    </a:ext>
                  </a:extLst>
                </a:gridCol>
                <a:gridCol w="1259172">
                  <a:extLst>
                    <a:ext uri="{9D8B030D-6E8A-4147-A177-3AD203B41FA5}">
                      <a16:colId xmlns:a16="http://schemas.microsoft.com/office/drawing/2014/main" val="2481371545"/>
                    </a:ext>
                  </a:extLst>
                </a:gridCol>
              </a:tblGrid>
              <a:tr h="2573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구분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TSU</a:t>
                      </a:r>
                      <a:endParaRPr lang="ko-KR" altLang="en-US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ANU</a:t>
                      </a:r>
                      <a:endParaRPr lang="ko-KR" altLang="en-US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ANU-S</a:t>
                      </a:r>
                      <a:endParaRPr lang="ko-KR" altLang="en-US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MCC(DC24V)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985201"/>
                  </a:ext>
                </a:extLst>
              </a:tr>
              <a:tr h="2573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정격전압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AC220V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DC24V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AC220V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DC24V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AC220V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DC24V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DC24V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887781"/>
                  </a:ext>
                </a:extLst>
              </a:tr>
              <a:tr h="3763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제조사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Schneider Electric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Schneider Electric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Schneider Electric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Schneider Electric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Schneider Electric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Schneider Electric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Schneider Electric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6066239"/>
                  </a:ext>
                </a:extLst>
              </a:tr>
              <a:tr h="9554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모델명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TM241C24R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TM241C24T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TM241C40R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TM241C40T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TM241C24R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TM3AQ2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TM241C24T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TM3AQ2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1F1F1F"/>
                          </a:solidFill>
                        </a:rPr>
                        <a:t>TM241CE40T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TM3DI32K × 3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TM3DQ32TK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rgbClr val="1F1F1F"/>
                          </a:solidFill>
                        </a:rPr>
                        <a:t>TM3DQ8T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rgbClr val="1F1F1F"/>
                          </a:solidFill>
                        </a:rPr>
                        <a:t>TM3AQ4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424429"/>
                  </a:ext>
                </a:extLst>
              </a:tr>
              <a:tr h="7817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치수</a:t>
                      </a:r>
                      <a:r>
                        <a:rPr lang="en-US" altLang="ko-KR" sz="1100" dirty="0"/>
                        <a:t>(mm)</a:t>
                      </a:r>
                    </a:p>
                    <a:p>
                      <a:pPr algn="ctr" latinLnBrk="1"/>
                      <a:r>
                        <a:rPr lang="en-US" altLang="ko-KR" sz="1100" dirty="0"/>
                        <a:t>(Card</a:t>
                      </a:r>
                      <a:r>
                        <a:rPr lang="ko-KR" altLang="en-US" sz="1100" dirty="0"/>
                        <a:t>포함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altLang="ko-KR" sz="800" dirty="0"/>
                        <a:t>150 × 95</a:t>
                      </a:r>
                      <a:r>
                        <a:rPr lang="en-US" altLang="ko-KR" sz="800" dirty="0"/>
                        <a:t> </a:t>
                      </a:r>
                      <a:r>
                        <a:rPr lang="pl-PL" altLang="ko-KR" sz="800" dirty="0"/>
                        <a:t>× 90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altLang="ko-KR" sz="800" dirty="0"/>
                        <a:t>150 × 95</a:t>
                      </a:r>
                      <a:r>
                        <a:rPr lang="en-US" altLang="ko-KR" sz="800" dirty="0"/>
                        <a:t> </a:t>
                      </a:r>
                      <a:r>
                        <a:rPr lang="pl-PL" altLang="ko-KR" sz="800" dirty="0"/>
                        <a:t>× 90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l-PL" altLang="ko-KR" sz="800" dirty="0"/>
                        <a:t>1</a:t>
                      </a:r>
                      <a:r>
                        <a:rPr lang="en-US" altLang="ko-KR" sz="800" dirty="0"/>
                        <a:t>9</a:t>
                      </a:r>
                      <a:r>
                        <a:rPr lang="pl-PL" altLang="ko-KR" sz="800" dirty="0"/>
                        <a:t>0 × 95</a:t>
                      </a:r>
                      <a:r>
                        <a:rPr lang="en-US" altLang="ko-KR" sz="800" dirty="0"/>
                        <a:t> </a:t>
                      </a:r>
                      <a:r>
                        <a:rPr lang="pl-PL" altLang="ko-KR" sz="800" dirty="0"/>
                        <a:t>× 90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l-PL" altLang="ko-KR" sz="800" dirty="0"/>
                        <a:t>1</a:t>
                      </a:r>
                      <a:r>
                        <a:rPr lang="en-US" altLang="ko-KR" sz="800" dirty="0"/>
                        <a:t>9</a:t>
                      </a:r>
                      <a:r>
                        <a:rPr lang="pl-PL" altLang="ko-KR" sz="800" dirty="0"/>
                        <a:t>0 × 95</a:t>
                      </a:r>
                      <a:r>
                        <a:rPr lang="en-US" altLang="ko-KR" sz="800" dirty="0"/>
                        <a:t> </a:t>
                      </a:r>
                      <a:r>
                        <a:rPr lang="pl-PL" altLang="ko-KR" sz="800" dirty="0"/>
                        <a:t>× 90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l-PL" altLang="ko-KR" sz="800" dirty="0">
                          <a:solidFill>
                            <a:srgbClr val="FF0000"/>
                          </a:solidFill>
                        </a:rPr>
                        <a:t>150 × 95 × 90</a:t>
                      </a:r>
                    </a:p>
                    <a:p>
                      <a:pPr algn="ctr" latinLnBrk="1"/>
                      <a:r>
                        <a:rPr lang="pl-PL" altLang="ko-KR" sz="800" dirty="0"/>
                        <a:t>23.6 × 70 × 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altLang="ko-KR" sz="800" dirty="0">
                          <a:solidFill>
                            <a:srgbClr val="FF0000"/>
                          </a:solidFill>
                        </a:rPr>
                        <a:t>150 × 95 × 90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altLang="ko-KR" sz="800" dirty="0">
                          <a:solidFill>
                            <a:srgbClr val="FF0000"/>
                          </a:solidFill>
                        </a:rPr>
                        <a:t>23.6 × 70 × 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altLang="ko-KR" sz="800" dirty="0">
                          <a:solidFill>
                            <a:srgbClr val="FF0000"/>
                          </a:solidFill>
                        </a:rPr>
                        <a:t>190×95×90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altLang="ko-KR" sz="800" dirty="0">
                          <a:solidFill>
                            <a:srgbClr val="FF0000"/>
                          </a:solidFill>
                        </a:rPr>
                        <a:t>33.5×81.3×90 (×4)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altLang="ko-KR" sz="800" dirty="0">
                          <a:solidFill>
                            <a:srgbClr val="FF0000"/>
                          </a:solidFill>
                        </a:rPr>
                        <a:t>27.4×84.6×90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altLang="ko-KR" sz="800" dirty="0">
                          <a:solidFill>
                            <a:srgbClr val="FF0000"/>
                          </a:solidFill>
                        </a:rPr>
                        <a:t>23.6×70×90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850264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무게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en-US" altLang="ko-KR" sz="1100" dirty="0"/>
                        <a:t>(Card</a:t>
                      </a:r>
                      <a:r>
                        <a:rPr lang="ko-KR" altLang="en-US" sz="1100" dirty="0"/>
                        <a:t>포함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0.42 kg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0.42 kg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0.53 kg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0.53 kg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0.535 kg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0.535 kg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b="1">
                          <a:solidFill>
                            <a:srgbClr val="FF0000"/>
                          </a:solidFill>
                        </a:rPr>
                        <a:t>1.257 kg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5849545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메모리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100" dirty="0"/>
                        <a:t>64 MB RAM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ko-KR" sz="1100" dirty="0"/>
                        <a:t>128 MB </a:t>
                      </a:r>
                      <a:r>
                        <a:rPr lang="ko-KR" altLang="ko-KR" sz="1100" dirty="0" err="1"/>
                        <a:t>Flash</a:t>
                      </a:r>
                      <a:endParaRPr lang="en-US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100" dirty="0"/>
                        <a:t>64 MB RAM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ko-KR" sz="1100" dirty="0"/>
                        <a:t>128 MB </a:t>
                      </a:r>
                      <a:r>
                        <a:rPr lang="ko-KR" altLang="ko-KR" sz="1100" dirty="0" err="1"/>
                        <a:t>Flash</a:t>
                      </a:r>
                      <a:endParaRPr lang="en-US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100" dirty="0"/>
                        <a:t>64 MB RAM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ko-KR" sz="1100" dirty="0"/>
                        <a:t>128 MB </a:t>
                      </a:r>
                      <a:r>
                        <a:rPr lang="ko-KR" altLang="ko-KR" sz="1100" dirty="0" err="1"/>
                        <a:t>Flash</a:t>
                      </a:r>
                      <a:endParaRPr lang="en-US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100" dirty="0"/>
                        <a:t>64 MB RAM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ko-KR" sz="1100" dirty="0"/>
                        <a:t>128 MB </a:t>
                      </a:r>
                      <a:r>
                        <a:rPr lang="ko-KR" altLang="ko-KR" sz="1100" dirty="0" err="1"/>
                        <a:t>Flash</a:t>
                      </a:r>
                      <a:endParaRPr lang="en-US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100" dirty="0"/>
                        <a:t>64 MB RAM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ko-KR" sz="1100" dirty="0"/>
                        <a:t>128 MB </a:t>
                      </a:r>
                      <a:r>
                        <a:rPr lang="ko-KR" altLang="ko-KR" sz="1100" dirty="0" err="1"/>
                        <a:t>Flash</a:t>
                      </a:r>
                      <a:endParaRPr lang="en-US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100" dirty="0"/>
                        <a:t>64 MB RAM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ko-KR" sz="1100" dirty="0"/>
                        <a:t>128 MB </a:t>
                      </a:r>
                      <a:r>
                        <a:rPr lang="ko-KR" altLang="ko-KR" sz="1100" dirty="0" err="1"/>
                        <a:t>Flash</a:t>
                      </a:r>
                      <a:endParaRPr lang="en-US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100" dirty="0"/>
                        <a:t>64 MB RAM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ko-KR" sz="1100" dirty="0"/>
                        <a:t>128 MB </a:t>
                      </a:r>
                      <a:r>
                        <a:rPr lang="ko-KR" altLang="ko-KR" sz="1100" dirty="0" err="1"/>
                        <a:t>Flash</a:t>
                      </a:r>
                      <a:endParaRPr lang="en-US" altLang="ko-K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9048894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DI/DO/</a:t>
                      </a:r>
                    </a:p>
                    <a:p>
                      <a:pPr algn="ctr" latinLnBrk="1"/>
                      <a:r>
                        <a:rPr lang="en-US" altLang="ko-KR" sz="1100" dirty="0"/>
                        <a:t>AI/AO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14/10/0/0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14/10/0/0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24/16/0/0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24/16/0/0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14/10/0/2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14/10/0/2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b="1">
                          <a:solidFill>
                            <a:srgbClr val="FF0000"/>
                          </a:solidFill>
                        </a:rPr>
                        <a:t>120/56/0/4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2704647"/>
                  </a:ext>
                </a:extLst>
              </a:tr>
              <a:tr h="4115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선급인증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LR, ABS, DNV-GL, KR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LR, ABS, DNV-GL, KR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LR, ABS, DNV-GL, KR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LR, ABS, DNV-GL, KR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LR, ABS, DNV-GL, KR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LR, ABS, DNV-GL, KR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LR, ABS, DNV-GL, KR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5298277"/>
                  </a:ext>
                </a:extLst>
              </a:tr>
              <a:tr h="410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Reference</a:t>
                      </a:r>
                      <a:endParaRPr lang="ko-KR" altLang="en-US" sz="1100" dirty="0"/>
                    </a:p>
                  </a:txBody>
                  <a:tcPr anchor="ctr"/>
                </a:tc>
                <a:tc gridSpan="7">
                  <a:txBody>
                    <a:bodyPr/>
                    <a:lstStyle/>
                    <a:p>
                      <a:pPr algn="ctr" latinLnBrk="1"/>
                      <a:r>
                        <a:rPr sz="1100">
                          <a:solidFill>
                            <a:srgbClr val="FF0000"/>
                          </a:solidFill>
                        </a:rPr>
                        <a:t>Marine Energy Saving System, Marine Crane, Marine Scrubber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7931977"/>
                  </a:ext>
                </a:extLst>
              </a:tr>
              <a:tr h="3506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b="1">
                          <a:solidFill>
                            <a:srgbClr val="FF0000"/>
                          </a:solidFill>
                        </a:rPr>
                        <a:t>제안 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b="1" sz="1100">
                          <a:solidFill>
                            <a:srgbClr val="FF0000"/>
                          </a:solidFill>
                        </a:rPr>
                        <a:t>440,000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b="1" sz="1100">
                          <a:solidFill>
                            <a:srgbClr val="FF0000"/>
                          </a:solidFill>
                        </a:rPr>
                        <a:t>440,000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b="1" sz="1100">
                          <a:solidFill>
                            <a:srgbClr val="FF0000"/>
                          </a:solidFill>
                        </a:rPr>
                        <a:t>570,000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b="1" sz="1100">
                          <a:solidFill>
                            <a:srgbClr val="FF0000"/>
                          </a:solidFill>
                        </a:rPr>
                        <a:t>570,000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b="1" sz="1100">
                          <a:solidFill>
                            <a:srgbClr val="FF0000"/>
                          </a:solidFill>
                        </a:rPr>
                        <a:t>580,000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b="1" sz="1100">
                          <a:solidFill>
                            <a:srgbClr val="FF0000"/>
                          </a:solidFill>
                        </a:rPr>
                        <a:t>580,000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b="1" sz="1100">
                          <a:solidFill>
                            <a:srgbClr val="FF0000"/>
                          </a:solidFill>
                        </a:rPr>
                        <a:t>1,450,000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6479764"/>
                  </a:ext>
                </a:extLst>
              </a:tr>
              <a:tr h="3506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Benefit</a:t>
                      </a:r>
                      <a:endParaRPr lang="ko-KR" altLang="en-US" sz="1100" dirty="0"/>
                    </a:p>
                  </a:txBody>
                  <a:tcPr anchor="ctr"/>
                </a:tc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슈나이더 일렉트릭 글로벌 서비스, 하나의 파일로 각 Project(</a:t>
                      </a:r>
                      <a:r>
                        <a:rPr lang="ko-KR" altLang="en-US" sz="900" dirty="0" b="1">
                          <a:solidFill>
                            <a:srgbClr val="FF0000"/>
                          </a:solidFill>
                        </a:rPr>
                        <a:t>TSU, ANU, ANU-S, MCC</a:t>
                      </a:r>
                      <a:r>
                        <a:rPr lang="ko-KR" altLang="en-US" sz="900" dirty="0"/>
                        <a:t>) 관리, SD카드를 통한 소스코드,펌웨어 다운로드</a:t>
                      </a:r>
                      <a:endParaRPr lang="en-US" altLang="ko-KR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780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F5958DD-E903-3C85-806D-ED6A05A839F4}"/>
              </a:ext>
            </a:extLst>
          </p:cNvPr>
          <p:cNvSpPr txBox="1"/>
          <p:nvPr/>
        </p:nvSpPr>
        <p:spPr>
          <a:xfrm>
            <a:off x="199525" y="557883"/>
            <a:ext cx="9504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#Table1 : PLC </a:t>
            </a:r>
            <a:r>
              <a:rPr lang="ko-KR" alt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 내용 표</a:t>
            </a:r>
            <a:endParaRPr lang="en-US" altLang="ko-KR" sz="1250" dirty="0"/>
            <a:r>
              <a:rPr lang="en-US" altLang="ko-KR" sz="1250" dirty="0" b="1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(제안 가격: 1대 기준, VAT 별도, 2027년 가격)</a:t>
            </a:r>
          </a:p>
        </p:txBody>
      </p:sp>
    </p:spTree>
    <p:extLst>
      <p:ext uri="{BB962C8B-B14F-4D97-AF65-F5344CB8AC3E}">
        <p14:creationId xmlns:p14="http://schemas.microsoft.com/office/powerpoint/2010/main" val="1116208843"/>
      </p:ext>
    </p:extLst>
  </p:cSld>
  <p:clrMapOvr>
    <a:masterClrMapping/>
  </p:clrMapOvr>
</p:sld>
</file>

<file path=ppt/theme/theme1.xml><?xml version="1.0" encoding="utf-8"?>
<a:theme xmlns:a="http://schemas.openxmlformats.org/drawingml/2006/main" name="테크로스v1.1">
  <a:themeElements>
    <a:clrScheme name="2021 테크로스A">
      <a:dk1>
        <a:sysClr val="windowText" lastClr="000000"/>
      </a:dk1>
      <a:lt1>
        <a:sysClr val="window" lastClr="FFFFFF"/>
      </a:lt1>
      <a:dk2>
        <a:srgbClr val="002856"/>
      </a:dk2>
      <a:lt2>
        <a:srgbClr val="E2E2E2"/>
      </a:lt2>
      <a:accent1>
        <a:srgbClr val="0068B6"/>
      </a:accent1>
      <a:accent2>
        <a:srgbClr val="6B9265"/>
      </a:accent2>
      <a:accent3>
        <a:srgbClr val="8F7465"/>
      </a:accent3>
      <a:accent4>
        <a:srgbClr val="5E8C95"/>
      </a:accent4>
      <a:accent5>
        <a:srgbClr val="A54762"/>
      </a:accent5>
      <a:accent6>
        <a:srgbClr val="968AB2"/>
      </a:accent6>
      <a:hlink>
        <a:srgbClr val="5B9BD5"/>
      </a:hlink>
      <a:folHlink>
        <a:srgbClr val="FFC000"/>
      </a:folHlink>
    </a:clrScheme>
    <a:fontScheme name="2021 테크로스 v.1.1">
      <a:majorFont>
        <a:latin typeface="Myriad Pro Black"/>
        <a:ea typeface="Noto Sans CJK KR Bold"/>
        <a:cs typeface=""/>
      </a:majorFont>
      <a:minorFont>
        <a:latin typeface="Noto Sans CJK KR Regular"/>
        <a:ea typeface="Noto Sans CJK KR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테크로스v1.1" id="{F95863AA-4492-4EF9-89E2-9B6C70E51E86}" vid="{8023237A-33B2-4B9E-A359-ECC6E5BCC61F}"/>
    </a:ext>
  </a:extLst>
</a:theme>
</file>

<file path=ppt/theme/theme2.xml><?xml version="1.0" encoding="utf-8"?>
<a:theme xmlns:a="http://schemas.openxmlformats.org/drawingml/2006/main" name="3_테마1">
  <a:themeElements>
    <a:clrScheme name="2021 테크로스A">
      <a:dk1>
        <a:sysClr val="windowText" lastClr="000000"/>
      </a:dk1>
      <a:lt1>
        <a:sysClr val="window" lastClr="FFFFFF"/>
      </a:lt1>
      <a:dk2>
        <a:srgbClr val="002856"/>
      </a:dk2>
      <a:lt2>
        <a:srgbClr val="E2E2E2"/>
      </a:lt2>
      <a:accent1>
        <a:srgbClr val="0068B6"/>
      </a:accent1>
      <a:accent2>
        <a:srgbClr val="6B9265"/>
      </a:accent2>
      <a:accent3>
        <a:srgbClr val="8F7465"/>
      </a:accent3>
      <a:accent4>
        <a:srgbClr val="5E8C95"/>
      </a:accent4>
      <a:accent5>
        <a:srgbClr val="A54762"/>
      </a:accent5>
      <a:accent6>
        <a:srgbClr val="968AB2"/>
      </a:accent6>
      <a:hlink>
        <a:srgbClr val="5B9BD5"/>
      </a:hlink>
      <a:folHlink>
        <a:srgbClr val="FFC000"/>
      </a:folHlink>
    </a:clrScheme>
    <a:fontScheme name="2021 테크로스 v.1.1">
      <a:majorFont>
        <a:latin typeface="Myriad Pro Black"/>
        <a:ea typeface="Noto Sans CJK KR Bold"/>
        <a:cs typeface=""/>
      </a:majorFont>
      <a:minorFont>
        <a:latin typeface="Noto Sans CJK KR Regular"/>
        <a:ea typeface="Noto Sans CJK KR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테마1" id="{0424B233-31E4-43A5-9EDC-4B62074B16C9}" vid="{B4039208-DBBE-41CA-A24F-1F7050A08DEC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23507802-f8e4-4e38-829c-ac8ea9b241e4}" enabled="1" method="Privileged" siteId="{6e51e1ad-c54b-4b39-b598-0ffe9ae68fe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2021 TECHCROSS PPT Template_v1.1</Template>
  <TotalTime>28869</TotalTime>
  <Words>923</Words>
  <Application>Microsoft Office PowerPoint</Application>
  <PresentationFormat>A4 용지(210x297mm)</PresentationFormat>
  <Paragraphs>218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5" baseType="lpstr">
      <vt:lpstr>Myriad Pro Black</vt:lpstr>
      <vt:lpstr>Noto Sans CJK KR Regular</vt:lpstr>
      <vt:lpstr>Malgun Gothic</vt:lpstr>
      <vt:lpstr>Malgun Gothic</vt:lpstr>
      <vt:lpstr>Aptos</vt:lpstr>
      <vt:lpstr>Arial</vt:lpstr>
      <vt:lpstr>Helvetica</vt:lpstr>
      <vt:lpstr>테크로스v1.1</vt:lpstr>
      <vt:lpstr>3_테마1</vt:lpstr>
      <vt:lpstr>PLC 사양서</vt:lpstr>
      <vt:lpstr>개요</vt:lpstr>
      <vt:lpstr>공통 사항</vt:lpstr>
      <vt:lpstr>기존 사양</vt:lpstr>
      <vt:lpstr>#1 PLC DI / DO 세부 사양</vt:lpstr>
      <vt:lpstr>PLC 세부 내용 표 : 작성하여 회신 바랍니다.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박수정</dc:creator>
  <cp:lastModifiedBy>민기 백</cp:lastModifiedBy>
  <cp:revision>2072</cp:revision>
  <cp:lastPrinted>2025-07-11T00:08:12Z</cp:lastPrinted>
  <dcterms:created xsi:type="dcterms:W3CDTF">2021-05-14T05:24:12Z</dcterms:created>
  <dcterms:modified xsi:type="dcterms:W3CDTF">2026-10-06T07:00:05Z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asoo_Trace_ID">
    <vt:lpwstr>eyAibm9kZUNvdW50IjogMjQsICJub2RlMSIgOiB7ImRzZCI6IjAxMDAwMDAwMDAwMDIwMTAiLCJsb2dUaW1lIjoiMjAyNC0wNi0wNFQwNTowOTozNFoiLCJwSUQiOjEsInRyYWNlSWQiOiJBREVDQjkyQkNBQ0Q0RkM0OTk5RDA0QTA5RDUyNTkwMiIsInVzZXJDb2RlIjoiaGVlc2UifSwibm9kZTIiIDogeyJkc2QiOiIwMTAwMDAwMDAwMDA</vt:lpwstr>
  </property>
  <property fmtid="{D5CDD505-2E9C-101B-9397-08002B2CF9AE}" pid="3" name="ClassificationContentMarkingFooterLocations">
    <vt:lpwstr>테크로스v1.1:5\3_테마1:5</vt:lpwstr>
  </property>
  <property fmtid="{D5CDD505-2E9C-101B-9397-08002B2CF9AE}" pid="4" name="ClassificationContentMarkingFooterText">
    <vt:lpwstr>Public</vt:lpwstr>
  </property>
</Properties>
</file>
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Relationship Id="rId3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18" name="MCC 필수사항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1250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102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54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4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ETH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pic>
        <p:nvPicPr>
          <p:cNvPr id="21" name="MCC 구성 사진" descr="mcc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0000" y="1031240"/>
            <a:ext cx="6100000" cy="1281351"/>
          </a:xfrm>
          <a:prstGeom prst="rect">
            <a:avLst/>
          </a:prstGeom>
        </p:spPr>
      </p:pic>
      <p:sp>
        <p:nvSpPr>
          <p:cNvPr id="22" name="MCC 사진 주석"/>
          <p:cNvSpPr txBox="1"/>
          <p:nvPr/>
        </p:nvSpPr>
        <p:spPr>
          <a:xfrm>
            <a:off x="2550000" y="2337591"/>
            <a:ext cx="61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FF7C80"/>
                </a:solidFill>
              </a:rPr>
              <a:t>※ 구성 예시 이미지 — 실제 구성은 TM3XTRA1 / TM3XREC1 버스 확장 포함 (Local 7 + Remote 2)</a:t>
            </a:r>
          </a:p>
          <a:p>
            <a:pPr algn="l"/>
            <a:r>
              <a:rPr sz="700" b="0">
                <a:solidFill>
                  <a:srgbClr val="FF7C80"/>
                </a:solidFill>
              </a:rPr>
              <a:t>※ 합계 DI 104 / DO 56 / AO 4 / Serial 2CH + Ethernet 1CH  ·  출력 Relay·TR 무관 (Techross 확인)</a:t>
            </a:r>
          </a:p>
        </p:txBody>
      </p:sp>
      <p:graphicFrame>
        <p:nvGraphicFramePr>
          <p:cNvPr id="11" name="MCC 구성표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2930000"/>
          <a:ext cx="6884132" cy="1706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8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63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rgbClr val="1F1F1F"/>
                          </a:solidFill>
                        </a:rPr>
                        <a:t>TM241CE40T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solidFill>
                            <a:srgbClr val="1F1F1F"/>
                          </a:solidFill>
                        </a:rPr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solidFill>
                            <a:srgbClr val="1F1F1F"/>
                          </a:solidFill>
                        </a:rPr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solidFill>
                            <a:srgbClr val="1F1F1F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solidFill>
                            <a:srgbClr val="1F1F1F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rgbClr val="C00000"/>
                          </a:solidFill>
                        </a:rPr>
                        <a:t>TM3DI16 × 5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solidFill>
                            <a:srgbClr val="C00000"/>
                          </a:solidFill>
                        </a:rPr>
                        <a:t>80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rgbClr val="C00000"/>
                          </a:solidFill>
                        </a:rPr>
                        <a:t>TM3DQ16T × 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solidFill>
                            <a:srgbClr val="C00000"/>
                          </a:solidFill>
                        </a:rPr>
                        <a:t>32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rgbClr val="1F1F1F"/>
                          </a:solidFill>
                        </a:rPr>
                        <a:t>TM3DQ8T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solidFill>
                            <a:srgbClr val="1F1F1F"/>
                          </a:solidFill>
                        </a:rPr>
                        <a:t>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rgbClr val="C00000"/>
                          </a:solidFill>
                        </a:rPr>
                        <a:t>TM3AQ4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>
                          <a:solidFill>
                            <a:srgbClr val="C0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rgbClr val="C00000"/>
                          </a:solidFill>
                        </a:rPr>
                        <a:t>TM3XTRA1/XREC1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585141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3" name="MCC 변경 표시"/>
          <p:cNvSpPr txBox="1"/>
          <p:nvPr/>
        </p:nvSpPr>
        <p:spPr>
          <a:xfrm>
            <a:off x="1300000" y="470000"/>
            <a:ext cx="60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7C80"/>
                </a:solidFill>
              </a:rPr>
              <a:t>※ 구성 변경: 기존 사양(현행 유지) DI 102 / DO 54 / AO 4 반영 — 제출 견적 기준</a:t>
            </a:r>
          </a:p>
        </p:txBody>
      </p:sp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5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TM241CE40T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TM3DI16 × 5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TM3DQ16T × 2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TM3DQ8T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TM3AQ4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TM3XTRA1 + TM3XREC1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190 × 95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27.4 × 84.6 × 90 (×8)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23.65 × 73.3 × 90 (×2)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1.705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104/56/0/4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제안 가격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(1대, VAT 별도)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1,450,000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TSU, ANU, ANU-S, MCC</a:t>
                      </a:r>
                      <a:r>
                        <a:rPr sz="7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00000" y="4430000"/>
            <a:ext cx="85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제출 견적 기준으로 수정한 내용  /  제안 가격: 2027년 기준, VAT 별도  /  MCC 치수·무게: Schneider 제품 데이터시트 기준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
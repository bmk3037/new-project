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2" name="表 3">
            <a:extLst>
              <a:ext uri="{FF2B5EF4-FFF2-40B4-BE49-F238E27FC236}">
                <a16:creationId xmlns:a16="http://schemas.microsoft.com/office/drawing/2014/main" id="{7ABB4ED5-D9F4-BAC1-1F60-03C0618AF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114025"/>
              </p:ext>
            </p:extLst>
          </p:nvPr>
        </p:nvGraphicFramePr>
        <p:xfrm>
          <a:off x="1407550" y="2500000"/>
          <a:ext cx="6815022" cy="160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520000">
                  <a:extLst>
                    <a:ext uri="{9D8B030D-6E8A-4147-A177-3AD203B41FA5}">
                      <a16:colId xmlns:a16="http://schemas.microsoft.com/office/drawing/2014/main" val="2524214027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850000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855022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20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Reference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Q’ty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DI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DO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AI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AO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Serial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>Ethernet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TM241CE40T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24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TM3DI16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5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80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1691690314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TM3DQ16T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2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32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1976285449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1F1F1F"/>
                          </a:solidFill>
                        </a:rPr>
                        <a:t>TM3DQ8T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1F1F1F"/>
                          </a:solidFill>
                        </a:rPr>
                        <a:t>8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5660297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C00000"/>
                          </a:solidFill>
                        </a:rPr>
                        <a:t>TM3AQ4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177100329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0">
                          <a:solidFill>
                            <a:srgbClr val="C00000"/>
                          </a:solidFill>
                        </a:rPr>
                        <a:t>TM3XTRA1 + TM3XREC1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0">
                          <a:solidFill>
                            <a:srgbClr val="C00000"/>
                          </a:solidFill>
                        </a:rPr>
                        <a:t>1 + 1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797479953"/>
                  </a:ext>
                </a:extLst>
              </a:tr>
              <a:tr h="200000">
                <a:tc>
                  <a:txBody>
                    <a:bodyPr/>
                    <a:lstStyle/>
                    <a:p>
                      <a:r>
                        <a:rPr lang="en-US" altLang="ko-KR" sz="800" dirty="0" b="1">
                          <a:solidFill>
                            <a:srgbClr val="C00000"/>
                          </a:solidFill>
                        </a:rPr>
                        <a:t>합계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104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56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/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 b="1">
                          <a:solidFill>
                            <a:srgbClr val="C00000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 marT="12000" marB="12000" anchor="ctr"/>
                </a:tc>
                <a:extLst>
                  <a:ext uri="{0D108BD9-81ED-4DB2-BD59-A6C34878D82A}">
                    <a16:rowId xmlns:a16="http://schemas.microsoft.com/office/drawing/2014/main" val="797479953"/>
                  </a:ext>
                </a:extLst>
              </a:tr>
            </a:tbl>
          </a:graphicData>
        </a:graphic>
      </p:graphicFrame>
      <p:sp>
        <p:nvSpPr>
          <p:cNvPr id="6" name="タイトル 8">
            <a:extLst>
              <a:ext uri="{FF2B5EF4-FFF2-40B4-BE49-F238E27FC236}">
                <a16:creationId xmlns:a16="http://schemas.microsoft.com/office/drawing/2014/main" id="{3ACA4C00-F5D9-9995-879B-CDB957B13052}"/>
              </a:ext>
            </a:extLst>
          </p:cNvPr>
          <p:cNvSpPr txBox="1">
            <a:spLocks/>
          </p:cNvSpPr>
          <p:nvPr/>
        </p:nvSpPr>
        <p:spPr>
          <a:xfrm>
            <a:off x="280848" y="36792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MCC 필수사항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300000"/>
          <a:ext cx="2210000" cy="9200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102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54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4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Serial 1 + Ethernet 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560000" y="960000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1" name="MCC 변경 표시"/>
          <p:cNvSpPr txBox="1"/>
          <p:nvPr/>
        </p:nvSpPr>
        <p:spPr>
          <a:xfrm>
            <a:off x="1300000" y="470000"/>
            <a:ext cx="60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7C80"/>
                </a:solidFill>
              </a:rPr>
              <a:t>※ 구성 변경: 기존 사양(현행 유지) DI 102 / DO 54 / AO 4 반영 — 제출 견적 기준</a:t>
            </a:r>
          </a:p>
        </p:txBody>
      </p:sp>
      <p:sp>
        <p:nvSpPr>
          <p:cNvPr id="22" name="MCC 요구 주석"/>
          <p:cNvSpPr txBox="1"/>
          <p:nvPr/>
        </p:nvSpPr>
        <p:spPr>
          <a:xfrm>
            <a:off x="195876" y="2380000"/>
            <a:ext cx="2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(Techross 기준 · 출력 Relay·TR 무관)</a:t>
            </a:r>
          </a:p>
        </p:txBody>
      </p:sp>
      <p:sp>
        <p:nvSpPr>
          <p:cNvPr id="23" name="라벨 로컬"/>
          <p:cNvSpPr txBox="1"/>
          <p:nvPr/>
        </p:nvSpPr>
        <p:spPr>
          <a:xfrm>
            <a:off x="2450000" y="830000"/>
            <a:ext cx="40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Local bus (TM3 모듈 7개)</a:t>
            </a:r>
          </a:p>
        </p:txBody>
      </p:sp>
      <p:sp>
        <p:nvSpPr>
          <p:cNvPr id="24" name="CPU TM241CE40T"/>
          <p:cNvSpPr/>
          <p:nvPr/>
        </p:nvSpPr>
        <p:spPr>
          <a:xfrm>
            <a:off x="2450000" y="1000000"/>
            <a:ext cx="1000000" cy="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00" b="1">
                <a:solidFill>
                  <a:srgbClr val="1F1F1F"/>
                </a:solidFill>
              </a:rPr>
              <a:t>TM241CE40T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CPU · DC24V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Serial 2CH + Ethernet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DI 24 / DO 16</a:t>
            </a:r>
          </a:p>
        </p:txBody>
      </p:sp>
      <p:sp>
        <p:nvSpPr>
          <p:cNvPr id="25" name="TM3DI16 #1"/>
          <p:cNvSpPr/>
          <p:nvPr/>
        </p:nvSpPr>
        <p:spPr>
          <a:xfrm>
            <a:off x="349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6" name="TM3DI16 #2"/>
          <p:cNvSpPr/>
          <p:nvPr/>
        </p:nvSpPr>
        <p:spPr>
          <a:xfrm>
            <a:off x="401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7" name="TM3DI16 #3"/>
          <p:cNvSpPr/>
          <p:nvPr/>
        </p:nvSpPr>
        <p:spPr>
          <a:xfrm>
            <a:off x="453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8" name="TM3DI16 #4"/>
          <p:cNvSpPr/>
          <p:nvPr/>
        </p:nvSpPr>
        <p:spPr>
          <a:xfrm>
            <a:off x="505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9" name="TM3DI16 #5"/>
          <p:cNvSpPr/>
          <p:nvPr/>
        </p:nvSpPr>
        <p:spPr>
          <a:xfrm>
            <a:off x="5570000" y="1000000"/>
            <a:ext cx="480000" cy="58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30" name="TM3DQ16T #1"/>
          <p:cNvSpPr/>
          <p:nvPr/>
        </p:nvSpPr>
        <p:spPr>
          <a:xfrm>
            <a:off x="6090000" y="1000000"/>
            <a:ext cx="580000" cy="58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TM3DQ16T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(TR)</a:t>
            </a:r>
          </a:p>
        </p:txBody>
      </p:sp>
      <p:sp>
        <p:nvSpPr>
          <p:cNvPr id="31" name="TM3DQ16T #2"/>
          <p:cNvSpPr/>
          <p:nvPr/>
        </p:nvSpPr>
        <p:spPr>
          <a:xfrm>
            <a:off x="6710000" y="1000000"/>
            <a:ext cx="580000" cy="58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TM3DQ16T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(TR)</a:t>
            </a:r>
          </a:p>
        </p:txBody>
      </p:sp>
      <p:sp>
        <p:nvSpPr>
          <p:cNvPr id="32" name="TM3XTRA1"/>
          <p:cNvSpPr/>
          <p:nvPr/>
        </p:nvSpPr>
        <p:spPr>
          <a:xfrm>
            <a:off x="7330000" y="1000000"/>
            <a:ext cx="520000" cy="580000"/>
          </a:xfrm>
          <a:prstGeom prst="rect">
            <a:avLst/>
          </a:prstGeom>
          <a:solidFill>
            <a:srgbClr val="BFBFB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TM3XTRA1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버스 확장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(송신)</a:t>
            </a:r>
          </a:p>
        </p:txBody>
      </p:sp>
      <p:sp>
        <p:nvSpPr>
          <p:cNvPr id="33" name="TM3XREC1"/>
          <p:cNvSpPr/>
          <p:nvPr/>
        </p:nvSpPr>
        <p:spPr>
          <a:xfrm>
            <a:off x="2450000" y="1840000"/>
            <a:ext cx="520000" cy="580000"/>
          </a:xfrm>
          <a:prstGeom prst="rect">
            <a:avLst/>
          </a:prstGeom>
          <a:solidFill>
            <a:srgbClr val="BFBFB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TM3XREC1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버스 확장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(수신)</a:t>
            </a:r>
          </a:p>
        </p:txBody>
      </p:sp>
      <p:sp>
        <p:nvSpPr>
          <p:cNvPr id="34" name="TM3DQ8T"/>
          <p:cNvSpPr/>
          <p:nvPr/>
        </p:nvSpPr>
        <p:spPr>
          <a:xfrm>
            <a:off x="3010000" y="1840000"/>
            <a:ext cx="520000" cy="58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TM3DQ8T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8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(TR)</a:t>
            </a:r>
          </a:p>
        </p:txBody>
      </p:sp>
      <p:sp>
        <p:nvSpPr>
          <p:cNvPr id="35" name="TM3AQ4"/>
          <p:cNvSpPr/>
          <p:nvPr/>
        </p:nvSpPr>
        <p:spPr>
          <a:xfrm>
            <a:off x="3570000" y="1840000"/>
            <a:ext cx="520000" cy="580000"/>
          </a:xfrm>
          <a:prstGeom prst="rect">
            <a:avLst/>
          </a:prstGeom>
          <a:solidFill>
            <a:srgbClr val="EADBC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TM3AQ4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AO 4</a:t>
            </a:r>
          </a:p>
        </p:txBody>
      </p:sp>
      <p:sp>
        <p:nvSpPr>
          <p:cNvPr id="36" name="라벨 리모트"/>
          <p:cNvSpPr txBox="1"/>
          <p:nvPr/>
        </p:nvSpPr>
        <p:spPr>
          <a:xfrm>
            <a:off x="4190000" y="2050000"/>
            <a:ext cx="2600000" cy="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Remote bus (TM3 버스 확장, 모듈 2개)</a:t>
            </a:r>
          </a:p>
        </p:txBody>
      </p:sp>
      <p:cxnSp>
        <p:nvCxnSpPr>
          <p:cNvPr id="37" name="버스 확장 케이블 1"/>
          <p:cNvCxnSpPr/>
          <p:nvPr/>
        </p:nvCxnSpPr>
        <p:spPr>
          <a:xfrm>
            <a:off x="7590000" y="1580000"/>
            <a:ext cx="0" cy="130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버스 확장 케이블 2"/>
          <p:cNvCxnSpPr/>
          <p:nvPr/>
        </p:nvCxnSpPr>
        <p:spPr>
          <a:xfrm>
            <a:off x="2710000" y="1710000"/>
            <a:ext cx="4880000" cy="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버스 확장 케이블 3"/>
          <p:cNvCxnSpPr/>
          <p:nvPr/>
        </p:nvCxnSpPr>
        <p:spPr>
          <a:xfrm>
            <a:off x="2710000" y="1710000"/>
            <a:ext cx="0" cy="130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MCC 주석"/>
          <p:cNvSpPr txBox="1"/>
          <p:nvPr/>
        </p:nvSpPr>
        <p:spPr>
          <a:xfrm>
            <a:off x="200000" y="4000000"/>
            <a:ext cx="115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* 출력 Relay·TR 무관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(Techross 확인)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* TM3 모듈 9개 →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TM3XTRA1/XREC1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버스 확장으로 연결</a:t>
            </a:r>
          </a:p>
        </p:txBody>
      </p:sp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TM3DI16 × 5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TM3DQ16T × 2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TM3AQ4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TM3XTRA1 + TM3XREC1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190 × 95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27.4 × 84.6 × 90 (×8)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23.65 × 73.3 × 90 (×2)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1.705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104/56/0/4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제안 가격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(1대, VAT 별도)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1,450,000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TSU, ANU, ANU-S, MCC</a:t>
                      </a:r>
                      <a:r>
                        <a:rPr sz="7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00000" y="4430000"/>
            <a:ext cx="85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제출 견적 기준으로 수정한 내용  /  제안 가격: 2027년 기준, VAT 별도  /  MCC 치수·무게: Schneider 제품 데이터시트 기준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